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embeddedFontLst>
    <p:embeddedFont>
      <p:font typeface="Inter" panose="02000503000000020004" pitchFamily="2" charset="0"/>
      <p:regular r:id="rId15"/>
      <p:bold r:id="rId16"/>
      <p:italic r:id="rId17"/>
      <p:boldItalic r:id="rId18"/>
    </p:embeddedFont>
    <p:embeddedFont>
      <p:font typeface="JetBrains Mono" panose="02000009000000000000" pitchFamily="49" charset="0"/>
      <p:regular r:id="rId19"/>
      <p:bold r:id="rId20"/>
      <p:italic r:id="rId21"/>
      <p:boldItalic r:id="rId22"/>
    </p:embeddedFont>
    <p:embeddedFont>
      <p:font typeface="Space Grotesk" pitchFamily="2"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6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Manual is the Self-Driving Company Brain. Company signal — people, documents, conversations, systems — flows into the Company Brain, which powers AI agents, tools and teams. AI is becoming part of every company. Now every company needs a Brain.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access everything but understands nothing. It doesn't know why decisions happened, who owns what, what was promised, or what changed. Ask your best salesperson why a deal fell apart — they know. Ask your CRM, it won't. Every AI agent starts from zero.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shifting from assistant to worker. It used to answer questions; now it performs work. But every worker needs context. The bottleneck is no longer model intelligence — it's organizational understanding. This is an emerging AI infrastructure category: the Company Brain.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Manual is the Self-Driving Company Brain. Company activity flows in — meetings, messages, documents, tools. Zero Manual turns it into a living company brain with memory, intelligence and trust, and feeds it to agents, tools and teams. Context becomes infrastructure.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works where work happens, across three layers. The Agent Context Layer is the primary product: agents receive past decisions, ownership, history, constraints and commitments before acting. The Existing Tool Layer surfaces knowledge inside Slack, Gmail and CRM. The Company Brain Platform, including an AI Consultant, is the lowest-priority surface — the Brain matters most when it powers work, not when people manage another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 AI agent asks the human to upload documents and re-explain the background, over and over. With Zero Manual, the human just says 'create a launch plan' and the Company Brain provides previous launches, decisions, owners, constraints, insights and lessons. AI starts with company understanding.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finds information; the Company Brain creates understanding. Search returns files, retrieval, static knowledge, answers. The Brain gives organizational reality, understanding, living memory, and intelligence. It requires source, freshness, ownership and trust. The future isn't better search — it's companies that understand themselves.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platform shift created a new intelligence layer: CRM gave customer intelligence, ERP operational intelligence, HR employee intelligence. The AI era needs the Company Brain — organizational intelligence. We start with AI-native teams, then startups, enterprises, and every knowledge organization.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workers create a new infrastructure market. Enterprise AI adoption, the rise of AI agents, and the need for company context are all converging on the Company Brain. The AI agents market alone grows from 7.84 billion dollars in 2025 to 52.62 billion by 2030 — a 46 percent CAGR (MarketsandMarkets, 2025). Every AI agent needs context, memory, company knowledge and a trust layer. Company Brain is the missing intelligence layer for AI-native organizations.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six-person founding team spanning product, AI, engineering, operations and finance — structured to build the first Self-Driving Company Brain.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intelligence infrastructure with three growth channels of equal weight. Subscription: recurring access to the Company Brain Platform. Pay per use: intelligence consumption that grows with context requests, agents powered and memory operations — more AI work means more Brain usage. Enterprise: large-organization deployment with governance, security, integrations and private deployment. As companies depend more on AI, their Company Brain becomes more valuable.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built the Company Brain architecture, organizational memory system, intelligence model, and trust and governance layer. Now we're building the first technical prototype. We're not raising — sharing early with people thinking about the future of AI-native companies. Today companies use intelligence; tomorrow companies become intelligent.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28.svg"/><Relationship Id="rId10" Type="http://schemas.openxmlformats.org/officeDocument/2006/relationships/image" Target="../media/image11.png"/><Relationship Id="rId4" Type="http://schemas.openxmlformats.org/officeDocument/2006/relationships/image" Target="../media/image27.sv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6.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10" Type="http://schemas.openxmlformats.org/officeDocument/2006/relationships/image" Target="../media/image21.png"/><Relationship Id="rId4" Type="http://schemas.openxmlformats.org/officeDocument/2006/relationships/image" Target="../media/image38.svg"/><Relationship Id="rId9" Type="http://schemas.openxmlformats.org/officeDocument/2006/relationships/image" Target="../media/image43.svg"/></Relationships>
</file>

<file path=ppt/slides/_rels/slide7.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8.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svg"/><Relationship Id="rId7" Type="http://schemas.openxmlformats.org/officeDocument/2006/relationships/image" Target="../media/image5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svg"/><Relationship Id="rId10" Type="http://schemas.openxmlformats.org/officeDocument/2006/relationships/image" Target="../media/image21.png"/><Relationship Id="rId4" Type="http://schemas.openxmlformats.org/officeDocument/2006/relationships/image" Target="../media/image49.svg"/><Relationship Id="rId9" Type="http://schemas.openxmlformats.org/officeDocument/2006/relationships/image" Target="../media/image54.svg"/></Relationships>
</file>

<file path=ppt/slides/_rels/slide9.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21.png"/><Relationship Id="rId3" Type="http://schemas.openxmlformats.org/officeDocument/2006/relationships/image" Target="../media/image55.svg"/><Relationship Id="rId7" Type="http://schemas.openxmlformats.org/officeDocument/2006/relationships/image" Target="../media/image59.svg"/><Relationship Id="rId12" Type="http://schemas.openxmlformats.org/officeDocument/2006/relationships/image" Target="../media/image6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8.svg"/><Relationship Id="rId11" Type="http://schemas.openxmlformats.org/officeDocument/2006/relationships/image" Target="../media/image63.svg"/><Relationship Id="rId5" Type="http://schemas.openxmlformats.org/officeDocument/2006/relationships/image" Target="../media/image57.svg"/><Relationship Id="rId10" Type="http://schemas.openxmlformats.org/officeDocument/2006/relationships/image" Target="../media/image62.svg"/><Relationship Id="rId4" Type="http://schemas.openxmlformats.org/officeDocument/2006/relationships/image" Target="../media/image56.svg"/><Relationship Id="rId9" Type="http://schemas.openxmlformats.org/officeDocument/2006/relationships/image" Target="../media/image61.svg"/><Relationship Id="rId1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11.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svg"/><Relationship Id="rId7" Type="http://schemas.openxmlformats.org/officeDocument/2006/relationships/image" Target="../media/image74.svg"/><Relationship Id="rId12"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3.svg"/><Relationship Id="rId11" Type="http://schemas.openxmlformats.org/officeDocument/2006/relationships/image" Target="../media/image21.png"/><Relationship Id="rId5" Type="http://schemas.openxmlformats.org/officeDocument/2006/relationships/image" Target="../media/image72.sv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sv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78.svg"/><Relationship Id="rId7" Type="http://schemas.openxmlformats.org/officeDocument/2006/relationships/image" Target="../media/image82.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image" Target="../media/image79.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 name="Text 2"/>
          <p:cNvSpPr/>
          <p:nvPr/>
        </p:nvSpPr>
        <p:spPr>
          <a:xfrm>
            <a:off x="1047694" y="2527643"/>
            <a:ext cx="7868248" cy="1583298"/>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850" b="1" kern="0" spc="-175" dirty="0">
                <a:solidFill>
                  <a:srgbClr val="F0F6FC"/>
                </a:solidFill>
                <a:latin typeface="Space Grotesk" pitchFamily="34" charset="0"/>
                <a:ea typeface="Space Grotesk" pitchFamily="34" charset="-122"/>
                <a:cs typeface="Space Grotesk" pitchFamily="34" charset="-120"/>
              </a:rPr>
              <a:t>The Self-Driving Company Brain</a:t>
            </a:r>
            <a:endParaRPr lang="en-US" sz="5850" dirty="0"/>
          </a:p>
        </p:txBody>
      </p:sp>
      <p:sp>
        <p:nvSpPr>
          <p:cNvPr id="6" name="Text 3"/>
          <p:cNvSpPr/>
          <p:nvPr/>
        </p:nvSpPr>
        <p:spPr>
          <a:xfrm>
            <a:off x="1047694" y="4339475"/>
            <a:ext cx="7456166" cy="173520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3300" dirty="0">
                <a:solidFill>
                  <a:srgbClr val="8B949E"/>
                </a:solidFill>
                <a:latin typeface="Inter" pitchFamily="34" charset="0"/>
                <a:ea typeface="Inter" pitchFamily="34" charset="-122"/>
                <a:cs typeface="Inter" pitchFamily="34" charset="-120"/>
              </a:rPr>
              <a:t>Gives AI agents and tools the company understanding they need to actually operate.</a:t>
            </a:r>
            <a:endParaRPr lang="en-US" sz="3300" dirty="0"/>
          </a:p>
        </p:txBody>
      </p:sp>
      <p:sp>
        <p:nvSpPr>
          <p:cNvPr id="7" name="Shape 4"/>
          <p:cNvSpPr/>
          <p:nvPr/>
        </p:nvSpPr>
        <p:spPr>
          <a:xfrm>
            <a:off x="1047694" y="6569975"/>
            <a:ext cx="7639076" cy="9525"/>
          </a:xfrm>
          <a:prstGeom prst="rect">
            <a:avLst/>
          </a:prstGeom>
          <a:solidFill>
            <a:srgbClr val="30363D"/>
          </a:solidFill>
          <a:ln/>
        </p:spPr>
        <p:txBody>
          <a:bodyPr/>
          <a:lstStyle/>
          <a:p>
            <a:endParaRPr lang="en-US"/>
          </a:p>
        </p:txBody>
      </p:sp>
      <p:sp>
        <p:nvSpPr>
          <p:cNvPr id="8" name="Text 5"/>
          <p:cNvSpPr/>
          <p:nvPr/>
        </p:nvSpPr>
        <p:spPr>
          <a:xfrm>
            <a:off x="1047694" y="6920958"/>
            <a:ext cx="8402984" cy="431899"/>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8B949E"/>
                </a:solidFill>
                <a:latin typeface="Inter" pitchFamily="34" charset="0"/>
                <a:ea typeface="Inter" pitchFamily="34" charset="-122"/>
                <a:cs typeface="Inter" pitchFamily="34" charset="-120"/>
              </a:rPr>
              <a:t>AI is becoming part of every company.</a:t>
            </a:r>
            <a:endParaRPr lang="en-US" sz="2550" dirty="0"/>
          </a:p>
        </p:txBody>
      </p:sp>
      <p:sp>
        <p:nvSpPr>
          <p:cNvPr id="9" name="Text 6"/>
          <p:cNvSpPr/>
          <p:nvPr/>
        </p:nvSpPr>
        <p:spPr>
          <a:xfrm>
            <a:off x="1047694" y="7410001"/>
            <a:ext cx="7868248" cy="1301537"/>
          </a:xfrm>
          <a:prstGeom prst="rect">
            <a:avLst/>
          </a:prstGeom>
          <a:noFill/>
          <a:ln/>
        </p:spPr>
        <p:txBody>
          <a:bodyPr wrap="square" lIns="25400" tIns="25400" rIns="25400" bIns="25400" rtlCol="0" anchor="t">
            <a:normAutofit/>
          </a:bodyPr>
          <a:lstStyle/>
          <a:p>
            <a:pPr marL="0" indent="0" algn="l">
              <a:buNone/>
            </a:pPr>
            <a:r>
              <a:rPr lang="en-US" sz="3900" b="1" kern="0" spc="-78" dirty="0">
                <a:solidFill>
                  <a:srgbClr val="F0F6FC"/>
                </a:solidFill>
                <a:latin typeface="Space Grotesk" pitchFamily="34" charset="0"/>
                <a:ea typeface="Space Grotesk" pitchFamily="34" charset="-122"/>
                <a:cs typeface="Space Grotesk" pitchFamily="34" charset="-120"/>
              </a:rPr>
              <a:t>Now every company needs a </a:t>
            </a:r>
            <a:r>
              <a:rPr lang="en-US" sz="3900" b="1" kern="0" spc="-78" dirty="0">
                <a:solidFill>
                  <a:srgbClr val="FF6B00"/>
                </a:solidFill>
                <a:latin typeface="Space Grotesk" pitchFamily="34" charset="0"/>
                <a:ea typeface="Space Grotesk" pitchFamily="34" charset="-122"/>
                <a:cs typeface="Space Grotesk" pitchFamily="34" charset="-120"/>
              </a:rPr>
              <a:t>Brain.</a:t>
            </a:r>
            <a:endParaRPr lang="en-US" sz="3900" dirty="0"/>
          </a:p>
        </p:txBody>
      </p:sp>
      <p:sp>
        <p:nvSpPr>
          <p:cNvPr id="10" name="Shape 7"/>
          <p:cNvSpPr/>
          <p:nvPr/>
        </p:nvSpPr>
        <p:spPr>
          <a:xfrm>
            <a:off x="10944189" y="2690700"/>
            <a:ext cx="24962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61856" y="2851194"/>
            <a:ext cx="247534" cy="247534"/>
          </a:xfrm>
          <a:prstGeom prst="rect">
            <a:avLst/>
          </a:prstGeom>
        </p:spPr>
      </p:pic>
      <p:sp>
        <p:nvSpPr>
          <p:cNvPr id="12" name="Text 8"/>
          <p:cNvSpPr/>
          <p:nvPr/>
        </p:nvSpPr>
        <p:spPr>
          <a:xfrm>
            <a:off x="11542707" y="2855937"/>
            <a:ext cx="881872"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People</a:t>
            </a:r>
            <a:endParaRPr lang="en-US" sz="1950" dirty="0"/>
          </a:p>
        </p:txBody>
      </p:sp>
      <p:sp>
        <p:nvSpPr>
          <p:cNvPr id="13" name="Shape 9"/>
          <p:cNvSpPr/>
          <p:nvPr/>
        </p:nvSpPr>
        <p:spPr>
          <a:xfrm>
            <a:off x="13573744" y="2690700"/>
            <a:ext cx="23234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1409" y="2851194"/>
            <a:ext cx="247534" cy="247534"/>
          </a:xfrm>
          <a:prstGeom prst="rect">
            <a:avLst/>
          </a:prstGeom>
        </p:spPr>
      </p:pic>
      <p:sp>
        <p:nvSpPr>
          <p:cNvPr id="15" name="Text 10"/>
          <p:cNvSpPr/>
          <p:nvPr/>
        </p:nvSpPr>
        <p:spPr>
          <a:xfrm>
            <a:off x="14172261" y="2855937"/>
            <a:ext cx="1408091"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Documents</a:t>
            </a:r>
            <a:endParaRPr lang="en-US" sz="1950" dirty="0"/>
          </a:p>
        </p:txBody>
      </p:sp>
      <p:sp>
        <p:nvSpPr>
          <p:cNvPr id="16" name="Shape 11"/>
          <p:cNvSpPr/>
          <p:nvPr/>
        </p:nvSpPr>
        <p:spPr>
          <a:xfrm>
            <a:off x="10944189" y="3449967"/>
            <a:ext cx="24962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17"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61856" y="3610461"/>
            <a:ext cx="247534" cy="247534"/>
          </a:xfrm>
          <a:prstGeom prst="rect">
            <a:avLst/>
          </a:prstGeom>
        </p:spPr>
      </p:pic>
      <p:sp>
        <p:nvSpPr>
          <p:cNvPr id="18" name="Text 12"/>
          <p:cNvSpPr/>
          <p:nvPr/>
        </p:nvSpPr>
        <p:spPr>
          <a:xfrm>
            <a:off x="11542707" y="3615204"/>
            <a:ext cx="1756253"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Conversations</a:t>
            </a:r>
            <a:endParaRPr lang="en-US" sz="1950" dirty="0"/>
          </a:p>
        </p:txBody>
      </p:sp>
      <p:sp>
        <p:nvSpPr>
          <p:cNvPr id="19" name="Shape 13"/>
          <p:cNvSpPr/>
          <p:nvPr/>
        </p:nvSpPr>
        <p:spPr>
          <a:xfrm>
            <a:off x="13573744" y="3449967"/>
            <a:ext cx="23234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20"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91409" y="3610461"/>
            <a:ext cx="247534" cy="247534"/>
          </a:xfrm>
          <a:prstGeom prst="rect">
            <a:avLst/>
          </a:prstGeom>
        </p:spPr>
      </p:pic>
      <p:sp>
        <p:nvSpPr>
          <p:cNvPr id="21" name="Text 14"/>
          <p:cNvSpPr/>
          <p:nvPr/>
        </p:nvSpPr>
        <p:spPr>
          <a:xfrm>
            <a:off x="14172261" y="3615204"/>
            <a:ext cx="1075438"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Systems</a:t>
            </a:r>
            <a:endParaRPr lang="en-US" sz="1950"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296853" y="4247307"/>
            <a:ext cx="247534" cy="285735"/>
          </a:xfrm>
          <a:prstGeom prst="rect">
            <a:avLst/>
          </a:prstGeom>
        </p:spPr>
      </p:pic>
      <p:sp>
        <p:nvSpPr>
          <p:cNvPr id="23" name="Shape 15"/>
          <p:cNvSpPr/>
          <p:nvPr/>
        </p:nvSpPr>
        <p:spPr>
          <a:xfrm>
            <a:off x="11841774" y="4704431"/>
            <a:ext cx="3157695" cy="1108071"/>
          </a:xfrm>
          <a:prstGeom prst="roundRect">
            <a:avLst>
              <a:gd name="adj" fmla="val 6877"/>
            </a:avLst>
          </a:prstGeom>
          <a:solidFill>
            <a:srgbClr val="FF6B00">
              <a:alpha val="10000"/>
            </a:srgbClr>
          </a:solidFill>
          <a:ln w="8204">
            <a:solidFill>
              <a:srgbClr val="FF6B00"/>
            </a:solidFill>
            <a:prstDash val="solid"/>
          </a:ln>
        </p:spPr>
        <p:txBody>
          <a:bodyPr/>
          <a:lstStyle/>
          <a:p>
            <a:endParaRPr lang="en-US"/>
          </a:p>
        </p:txBody>
      </p:sp>
      <p:pic>
        <p:nvPicPr>
          <p:cNvPr id="25"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16588" y="5125021"/>
            <a:ext cx="266634" cy="266634"/>
          </a:xfrm>
          <a:prstGeom prst="rect">
            <a:avLst/>
          </a:prstGeom>
        </p:spPr>
      </p:pic>
      <p:sp>
        <p:nvSpPr>
          <p:cNvPr id="27" name="Text 18"/>
          <p:cNvSpPr/>
          <p:nvPr/>
        </p:nvSpPr>
        <p:spPr>
          <a:xfrm>
            <a:off x="12840371" y="5315896"/>
            <a:ext cx="1946906" cy="317041"/>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Company Brain</a:t>
            </a:r>
            <a:endParaRPr lang="en-US" sz="1800" dirty="0"/>
          </a:p>
        </p:txBody>
      </p:sp>
      <p:pic>
        <p:nvPicPr>
          <p:cNvPr id="28"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296853" y="5983892"/>
            <a:ext cx="247534" cy="285735"/>
          </a:xfrm>
          <a:prstGeom prst="rect">
            <a:avLst/>
          </a:prstGeom>
        </p:spPr>
      </p:pic>
      <p:sp>
        <p:nvSpPr>
          <p:cNvPr id="29" name="Shape 19"/>
          <p:cNvSpPr/>
          <p:nvPr/>
        </p:nvSpPr>
        <p:spPr>
          <a:xfrm>
            <a:off x="10944189" y="6441016"/>
            <a:ext cx="1562119" cy="1155245"/>
          </a:xfrm>
          <a:prstGeom prst="roundRect">
            <a:avLst>
              <a:gd name="adj" fmla="val 6596"/>
            </a:avLst>
          </a:prstGeom>
          <a:solidFill>
            <a:srgbClr val="161B22"/>
          </a:solidFill>
          <a:ln w="8204">
            <a:solidFill>
              <a:srgbClr val="30363D"/>
            </a:solidFill>
            <a:prstDash val="solid"/>
          </a:ln>
        </p:spPr>
        <p:txBody>
          <a:bodyPr/>
          <a:lstStyle/>
          <a:p>
            <a:endParaRPr lang="en-US"/>
          </a:p>
        </p:txBody>
      </p:sp>
      <p:pic>
        <p:nvPicPr>
          <p:cNvPr id="30"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582317" y="6658682"/>
            <a:ext cx="285735" cy="285735"/>
          </a:xfrm>
          <a:prstGeom prst="rect">
            <a:avLst/>
          </a:prstGeom>
        </p:spPr>
      </p:pic>
      <p:sp>
        <p:nvSpPr>
          <p:cNvPr id="31" name="Text 20"/>
          <p:cNvSpPr/>
          <p:nvPr/>
        </p:nvSpPr>
        <p:spPr>
          <a:xfrm>
            <a:off x="11182109" y="7091450"/>
            <a:ext cx="1162351"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0F6FC"/>
                </a:solidFill>
                <a:latin typeface="Inter" pitchFamily="34" charset="0"/>
                <a:ea typeface="Inter" pitchFamily="34" charset="-122"/>
                <a:cs typeface="Inter" pitchFamily="34" charset="-120"/>
              </a:rPr>
              <a:t>AI Agents</a:t>
            </a:r>
            <a:endParaRPr lang="en-US" sz="1875" dirty="0"/>
          </a:p>
        </p:txBody>
      </p:sp>
      <p:sp>
        <p:nvSpPr>
          <p:cNvPr id="32" name="Shape 21"/>
          <p:cNvSpPr/>
          <p:nvPr/>
        </p:nvSpPr>
        <p:spPr>
          <a:xfrm>
            <a:off x="12639625" y="6441016"/>
            <a:ext cx="1562119" cy="1155245"/>
          </a:xfrm>
          <a:prstGeom prst="roundRect">
            <a:avLst>
              <a:gd name="adj" fmla="val 6596"/>
            </a:avLst>
          </a:prstGeom>
          <a:solidFill>
            <a:srgbClr val="161B22"/>
          </a:solidFill>
          <a:ln w="8204">
            <a:solidFill>
              <a:srgbClr val="30363D"/>
            </a:solidFill>
            <a:prstDash val="solid"/>
          </a:ln>
        </p:spPr>
        <p:txBody>
          <a:bodyPr/>
          <a:lstStyle/>
          <a:p>
            <a:endParaRPr lang="en-US"/>
          </a:p>
        </p:txBody>
      </p:sp>
      <p:pic>
        <p:nvPicPr>
          <p:cNvPr id="33"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277753" y="6658682"/>
            <a:ext cx="285735" cy="285735"/>
          </a:xfrm>
          <a:prstGeom prst="rect">
            <a:avLst/>
          </a:prstGeom>
        </p:spPr>
      </p:pic>
      <p:sp>
        <p:nvSpPr>
          <p:cNvPr id="34" name="Text 22"/>
          <p:cNvSpPr/>
          <p:nvPr/>
        </p:nvSpPr>
        <p:spPr>
          <a:xfrm>
            <a:off x="13118670" y="7091450"/>
            <a:ext cx="680230"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0F6FC"/>
                </a:solidFill>
                <a:latin typeface="Inter" pitchFamily="34" charset="0"/>
                <a:ea typeface="Inter" pitchFamily="34" charset="-122"/>
                <a:cs typeface="Inter" pitchFamily="34" charset="-120"/>
              </a:rPr>
              <a:t>Tools</a:t>
            </a:r>
            <a:endParaRPr lang="en-US" sz="1875" dirty="0"/>
          </a:p>
        </p:txBody>
      </p:sp>
      <p:sp>
        <p:nvSpPr>
          <p:cNvPr id="35" name="Shape 23"/>
          <p:cNvSpPr/>
          <p:nvPr/>
        </p:nvSpPr>
        <p:spPr>
          <a:xfrm>
            <a:off x="14335061" y="6441016"/>
            <a:ext cx="1562119" cy="1155245"/>
          </a:xfrm>
          <a:prstGeom prst="roundRect">
            <a:avLst>
              <a:gd name="adj" fmla="val 6596"/>
            </a:avLst>
          </a:prstGeom>
          <a:solidFill>
            <a:srgbClr val="161B22"/>
          </a:solidFill>
          <a:ln w="8204">
            <a:solidFill>
              <a:srgbClr val="30363D"/>
            </a:solidFill>
            <a:prstDash val="solid"/>
          </a:ln>
        </p:spPr>
        <p:txBody>
          <a:bodyPr/>
          <a:lstStyle/>
          <a:p>
            <a:endParaRPr lang="en-US"/>
          </a:p>
        </p:txBody>
      </p:sp>
      <p:pic>
        <p:nvPicPr>
          <p:cNvPr id="36" name="Image 10"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4973190" y="6658682"/>
            <a:ext cx="285735" cy="285735"/>
          </a:xfrm>
          <a:prstGeom prst="rect">
            <a:avLst/>
          </a:prstGeom>
        </p:spPr>
      </p:pic>
      <p:sp>
        <p:nvSpPr>
          <p:cNvPr id="37" name="Text 24"/>
          <p:cNvSpPr/>
          <p:nvPr/>
        </p:nvSpPr>
        <p:spPr>
          <a:xfrm>
            <a:off x="14743986" y="7091450"/>
            <a:ext cx="820341"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0F6FC"/>
                </a:solidFill>
                <a:latin typeface="Inter" pitchFamily="34" charset="0"/>
                <a:ea typeface="Inter" pitchFamily="34" charset="-122"/>
                <a:cs typeface="Inter" pitchFamily="34" charset="-120"/>
              </a:rPr>
              <a:t>Teams</a:t>
            </a:r>
            <a:endParaRPr lang="en-US" sz="1875" dirty="0"/>
          </a:p>
        </p:txBody>
      </p:sp>
      <p:pic>
        <p:nvPicPr>
          <p:cNvPr id="38" name="Image 0" descr="preencoded.png">
            <a:extLst>
              <a:ext uri="{FF2B5EF4-FFF2-40B4-BE49-F238E27FC236}">
                <a16:creationId xmlns:a16="http://schemas.microsoft.com/office/drawing/2014/main" id="{46DAE358-5F75-6070-CECD-B5AC2DC1C125}"/>
              </a:ext>
            </a:extLst>
          </p:cNvPr>
          <p:cNvPicPr>
            <a:picLocks noChangeAspect="1"/>
          </p:cNvPicPr>
          <p:nvPr/>
        </p:nvPicPr>
        <p:blipFill>
          <a:blip r:embed="rId13"/>
          <a:stretch>
            <a:fillRect/>
          </a:stretch>
        </p:blipFill>
        <p:spPr>
          <a:xfrm>
            <a:off x="1073452" y="1608556"/>
            <a:ext cx="497771" cy="497771"/>
          </a:xfrm>
          <a:prstGeom prst="rect">
            <a:avLst/>
          </a:prstGeom>
        </p:spPr>
      </p:pic>
      <p:sp>
        <p:nvSpPr>
          <p:cNvPr id="39" name="Text 0">
            <a:extLst>
              <a:ext uri="{FF2B5EF4-FFF2-40B4-BE49-F238E27FC236}">
                <a16:creationId xmlns:a16="http://schemas.microsoft.com/office/drawing/2014/main" id="{C0F9E876-C74C-585B-9EAE-681DE9C2BBF9}"/>
              </a:ext>
            </a:extLst>
          </p:cNvPr>
          <p:cNvSpPr/>
          <p:nvPr/>
        </p:nvSpPr>
        <p:spPr>
          <a:xfrm>
            <a:off x="1664036" y="1730647"/>
            <a:ext cx="2689023" cy="543062"/>
          </a:xfrm>
          <a:prstGeom prst="rect">
            <a:avLst/>
          </a:prstGeom>
          <a:noFill/>
          <a:ln/>
        </p:spPr>
        <p:txBody>
          <a:bodyPr wrap="square" lIns="25400" tIns="25400" rIns="25400" bIns="25400" rtlCol="0" anchor="t">
            <a:normAutofit fontScale="47500" lnSpcReduction="20000"/>
          </a:bodyPr>
          <a:lstStyle/>
          <a:p>
            <a:pPr marL="0" indent="0" algn="l">
              <a:lnSpc>
                <a:spcPct val="100000"/>
              </a:lnSpc>
              <a:buNone/>
            </a:pPr>
            <a:r>
              <a:rPr lang="en-US" sz="7800" b="1" kern="0" spc="-156" dirty="0" err="1">
                <a:solidFill>
                  <a:srgbClr val="F0F6FC"/>
                </a:solidFill>
                <a:latin typeface="Space Grotesk" pitchFamily="34" charset="0"/>
                <a:ea typeface="Space Grotesk" pitchFamily="34" charset="-122"/>
                <a:cs typeface="Space Grotesk" pitchFamily="34" charset="-120"/>
              </a:rPr>
              <a:t>ZeroManual</a:t>
            </a:r>
            <a:endParaRPr lang="en-US" sz="7800" dirty="0"/>
          </a:p>
        </p:txBody>
      </p:sp>
      <p:sp>
        <p:nvSpPr>
          <p:cNvPr id="45" name="Text 12">
            <a:extLst>
              <a:ext uri="{FF2B5EF4-FFF2-40B4-BE49-F238E27FC236}">
                <a16:creationId xmlns:a16="http://schemas.microsoft.com/office/drawing/2014/main" id="{F976F040-3120-D823-02DC-52E2D393EBED}"/>
              </a:ext>
            </a:extLst>
          </p:cNvPr>
          <p:cNvSpPr/>
          <p:nvPr/>
        </p:nvSpPr>
        <p:spPr>
          <a:xfrm>
            <a:off x="12837663" y="4883992"/>
            <a:ext cx="1843364" cy="498362"/>
          </a:xfrm>
          <a:prstGeom prst="rect">
            <a:avLst/>
          </a:prstGeom>
          <a:noFill/>
          <a:ln/>
        </p:spPr>
        <p:txBody>
          <a:bodyPr wrap="square" lIns="25400" tIns="25400" rIns="25400" bIns="25400" rtlCol="0" anchor="t">
            <a:normAutofit/>
          </a:bodyPr>
          <a:lstStyle/>
          <a:p>
            <a:pPr marL="0" indent="0" algn="l">
              <a:buNone/>
            </a:pPr>
            <a:r>
              <a:rPr lang="en-US" sz="2400" b="1" kern="0" spc="-22" dirty="0" err="1">
                <a:solidFill>
                  <a:schemeClr val="bg1"/>
                </a:solidFill>
                <a:latin typeface="Space Grotesk" pitchFamily="34" charset="0"/>
                <a:ea typeface="Space Grotesk" pitchFamily="34" charset="-122"/>
                <a:cs typeface="Space Grotesk" pitchFamily="34" charset="-120"/>
              </a:rPr>
              <a:t>ZeroManual</a:t>
            </a:r>
            <a:endParaRPr lang="en-US" sz="2400" dirty="0">
              <a:solidFill>
                <a:schemeClr val="bg1"/>
              </a:solidFill>
            </a:endParaRPr>
          </a:p>
        </p:txBody>
      </p:sp>
      <p:pic>
        <p:nvPicPr>
          <p:cNvPr id="46" name="Image 0" descr="preencoded.png">
            <a:extLst>
              <a:ext uri="{FF2B5EF4-FFF2-40B4-BE49-F238E27FC236}">
                <a16:creationId xmlns:a16="http://schemas.microsoft.com/office/drawing/2014/main" id="{B2AE5432-F4FD-6EA3-3B2C-AAF952FEC3FC}"/>
              </a:ext>
            </a:extLst>
          </p:cNvPr>
          <p:cNvPicPr>
            <a:picLocks noChangeAspect="1"/>
          </p:cNvPicPr>
          <p:nvPr/>
        </p:nvPicPr>
        <p:blipFill>
          <a:blip r:embed="rId13"/>
          <a:stretch>
            <a:fillRect/>
          </a:stretch>
        </p:blipFill>
        <p:spPr>
          <a:xfrm>
            <a:off x="12039106" y="4838856"/>
            <a:ext cx="702119" cy="7021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THE PROBLEM</a:t>
            </a:r>
            <a:endParaRPr lang="en-US" sz="1800" dirty="0"/>
          </a:p>
        </p:txBody>
      </p:sp>
      <p:sp>
        <p:nvSpPr>
          <p:cNvPr id="3" name="Text 1"/>
          <p:cNvSpPr/>
          <p:nvPr/>
        </p:nvSpPr>
        <p:spPr>
          <a:xfrm>
            <a:off x="1047694" y="1427648"/>
            <a:ext cx="2428168"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Access</a:t>
            </a:r>
            <a:endParaRPr lang="en-US" sz="5250" dirty="0"/>
          </a:p>
        </p:txBody>
      </p:sp>
      <p:sp>
        <p:nvSpPr>
          <p:cNvPr id="4" name="Text 2"/>
          <p:cNvSpPr/>
          <p:nvPr/>
        </p:nvSpPr>
        <p:spPr>
          <a:xfrm>
            <a:off x="3502653" y="1334839"/>
            <a:ext cx="491534" cy="1039005"/>
          </a:xfrm>
          <a:prstGeom prst="rect">
            <a:avLst/>
          </a:prstGeom>
          <a:noFill/>
          <a:ln/>
        </p:spPr>
        <p:txBody>
          <a:bodyPr wrap="square" lIns="25400" tIns="25400" rIns="25400" bIns="25400" rtlCol="0" anchor="t">
            <a:normAutofit/>
          </a:bodyPr>
          <a:lstStyle/>
          <a:p>
            <a:pPr marL="0" indent="0" algn="l">
              <a:buNone/>
            </a:pPr>
            <a:r>
              <a:rPr lang="en-US" sz="6150" b="1" kern="0" spc="-105" dirty="0">
                <a:solidFill>
                  <a:srgbClr val="FF6B00"/>
                </a:solidFill>
                <a:latin typeface="Space Grotesk" pitchFamily="34" charset="0"/>
                <a:ea typeface="Space Grotesk" pitchFamily="34" charset="-122"/>
                <a:cs typeface="Space Grotesk" pitchFamily="34" charset="-120"/>
              </a:rPr>
              <a:t>≠</a:t>
            </a:r>
            <a:endParaRPr lang="en-US" sz="6150" dirty="0"/>
          </a:p>
        </p:txBody>
      </p:sp>
      <p:sp>
        <p:nvSpPr>
          <p:cNvPr id="5" name="Text 3"/>
          <p:cNvSpPr/>
          <p:nvPr/>
        </p:nvSpPr>
        <p:spPr>
          <a:xfrm>
            <a:off x="4165522" y="1427648"/>
            <a:ext cx="5096050"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Understanding</a:t>
            </a:r>
            <a:endParaRPr lang="en-US" sz="5250" dirty="0"/>
          </a:p>
        </p:txBody>
      </p:sp>
      <p:sp>
        <p:nvSpPr>
          <p:cNvPr id="6" name="Text 4"/>
          <p:cNvSpPr/>
          <p:nvPr/>
        </p:nvSpPr>
        <p:spPr>
          <a:xfrm>
            <a:off x="1047694" y="2849912"/>
            <a:ext cx="9288236"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AI can access</a:t>
            </a:r>
            <a:endParaRPr lang="en-US" sz="2025" dirty="0"/>
          </a:p>
        </p:txBody>
      </p:sp>
      <p:sp>
        <p:nvSpPr>
          <p:cNvPr id="7" name="Shape 5"/>
          <p:cNvSpPr/>
          <p:nvPr/>
        </p:nvSpPr>
        <p:spPr>
          <a:xfrm>
            <a:off x="1047694" y="3352159"/>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5360" y="3550853"/>
            <a:ext cx="247534" cy="247534"/>
          </a:xfrm>
          <a:prstGeom prst="rect">
            <a:avLst/>
          </a:prstGeom>
        </p:spPr>
      </p:pic>
      <p:sp>
        <p:nvSpPr>
          <p:cNvPr id="9" name="Text 6"/>
          <p:cNvSpPr/>
          <p:nvPr/>
        </p:nvSpPr>
        <p:spPr>
          <a:xfrm>
            <a:off x="1646211" y="3551494"/>
            <a:ext cx="1459238"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Documents</a:t>
            </a:r>
            <a:endParaRPr lang="en-US" sz="2025" dirty="0"/>
          </a:p>
        </p:txBody>
      </p:sp>
      <p:sp>
        <p:nvSpPr>
          <p:cNvPr id="10" name="Shape 7"/>
          <p:cNvSpPr/>
          <p:nvPr/>
        </p:nvSpPr>
        <p:spPr>
          <a:xfrm>
            <a:off x="5345764" y="3352159"/>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3430" y="3550853"/>
            <a:ext cx="247534" cy="247534"/>
          </a:xfrm>
          <a:prstGeom prst="rect">
            <a:avLst/>
          </a:prstGeom>
        </p:spPr>
      </p:pic>
      <p:sp>
        <p:nvSpPr>
          <p:cNvPr id="12" name="Text 8"/>
          <p:cNvSpPr/>
          <p:nvPr/>
        </p:nvSpPr>
        <p:spPr>
          <a:xfrm>
            <a:off x="5944281" y="3551494"/>
            <a:ext cx="1317588"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Messages</a:t>
            </a:r>
            <a:endParaRPr lang="en-US" sz="2025" dirty="0"/>
          </a:p>
        </p:txBody>
      </p:sp>
      <p:sp>
        <p:nvSpPr>
          <p:cNvPr id="13" name="Shape 9"/>
          <p:cNvSpPr/>
          <p:nvPr/>
        </p:nvSpPr>
        <p:spPr>
          <a:xfrm>
            <a:off x="1047694" y="4215003"/>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65360" y="4413697"/>
            <a:ext cx="247534" cy="247534"/>
          </a:xfrm>
          <a:prstGeom prst="rect">
            <a:avLst/>
          </a:prstGeom>
        </p:spPr>
      </p:pic>
      <p:sp>
        <p:nvSpPr>
          <p:cNvPr id="15" name="Text 10"/>
          <p:cNvSpPr/>
          <p:nvPr/>
        </p:nvSpPr>
        <p:spPr>
          <a:xfrm>
            <a:off x="1646211" y="4414338"/>
            <a:ext cx="953914"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Tickets</a:t>
            </a:r>
            <a:endParaRPr lang="en-US" sz="2025" dirty="0"/>
          </a:p>
        </p:txBody>
      </p:sp>
      <p:sp>
        <p:nvSpPr>
          <p:cNvPr id="16" name="Shape 11"/>
          <p:cNvSpPr/>
          <p:nvPr/>
        </p:nvSpPr>
        <p:spPr>
          <a:xfrm>
            <a:off x="5345764" y="4215003"/>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63430" y="4413697"/>
            <a:ext cx="247534" cy="247534"/>
          </a:xfrm>
          <a:prstGeom prst="rect">
            <a:avLst/>
          </a:prstGeom>
        </p:spPr>
      </p:pic>
      <p:sp>
        <p:nvSpPr>
          <p:cNvPr id="18" name="Text 12"/>
          <p:cNvSpPr/>
          <p:nvPr/>
        </p:nvSpPr>
        <p:spPr>
          <a:xfrm>
            <a:off x="5944281" y="4414338"/>
            <a:ext cx="1361557"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Databases</a:t>
            </a:r>
            <a:endParaRPr lang="en-US" sz="2025" dirty="0"/>
          </a:p>
        </p:txBody>
      </p:sp>
      <p:sp>
        <p:nvSpPr>
          <p:cNvPr id="19" name="Text 13"/>
          <p:cNvSpPr/>
          <p:nvPr/>
        </p:nvSpPr>
        <p:spPr>
          <a:xfrm>
            <a:off x="1047694" y="5268337"/>
            <a:ext cx="9288236"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But it still doesn't understand</a:t>
            </a:r>
            <a:endParaRPr lang="en-US" sz="2025"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694" y="5796607"/>
            <a:ext cx="285735" cy="285735"/>
          </a:xfrm>
          <a:prstGeom prst="rect">
            <a:avLst/>
          </a:prstGeom>
        </p:spPr>
      </p:pic>
      <p:sp>
        <p:nvSpPr>
          <p:cNvPr id="21" name="Text 14"/>
          <p:cNvSpPr/>
          <p:nvPr/>
        </p:nvSpPr>
        <p:spPr>
          <a:xfrm>
            <a:off x="1485718" y="5770584"/>
            <a:ext cx="3979149"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Why decisions happened</a:t>
            </a:r>
            <a:endParaRPr lang="en-US" sz="2550"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7694" y="6323723"/>
            <a:ext cx="285735" cy="285735"/>
          </a:xfrm>
          <a:prstGeom prst="rect">
            <a:avLst/>
          </a:prstGeom>
        </p:spPr>
      </p:pic>
      <p:sp>
        <p:nvSpPr>
          <p:cNvPr id="23" name="Text 15"/>
          <p:cNvSpPr/>
          <p:nvPr/>
        </p:nvSpPr>
        <p:spPr>
          <a:xfrm>
            <a:off x="1485718" y="6297700"/>
            <a:ext cx="2522956"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Who owns what</a:t>
            </a:r>
            <a:endParaRPr lang="en-US" sz="2550"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7694" y="6850838"/>
            <a:ext cx="285735" cy="285735"/>
          </a:xfrm>
          <a:prstGeom prst="rect">
            <a:avLst/>
          </a:prstGeom>
        </p:spPr>
      </p:pic>
      <p:sp>
        <p:nvSpPr>
          <p:cNvPr id="25" name="Text 16"/>
          <p:cNvSpPr/>
          <p:nvPr/>
        </p:nvSpPr>
        <p:spPr>
          <a:xfrm>
            <a:off x="1485718" y="6824816"/>
            <a:ext cx="3118146"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What was promised</a:t>
            </a:r>
            <a:endParaRPr lang="en-US" sz="2550" dirty="0"/>
          </a:p>
        </p:txBody>
      </p:sp>
      <p:pic>
        <p:nvPicPr>
          <p:cNvPr id="2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47694" y="7377954"/>
            <a:ext cx="285735" cy="285735"/>
          </a:xfrm>
          <a:prstGeom prst="rect">
            <a:avLst/>
          </a:prstGeom>
        </p:spPr>
      </p:pic>
      <p:sp>
        <p:nvSpPr>
          <p:cNvPr id="27" name="Text 17"/>
          <p:cNvSpPr/>
          <p:nvPr/>
        </p:nvSpPr>
        <p:spPr>
          <a:xfrm>
            <a:off x="1485718" y="7351931"/>
            <a:ext cx="3850018"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What changed over time</a:t>
            </a:r>
            <a:endParaRPr lang="en-US" sz="2550" dirty="0"/>
          </a:p>
        </p:txBody>
      </p:sp>
      <p:sp>
        <p:nvSpPr>
          <p:cNvPr id="28" name="Shape 18"/>
          <p:cNvSpPr/>
          <p:nvPr/>
        </p:nvSpPr>
        <p:spPr>
          <a:xfrm>
            <a:off x="10063014" y="4176033"/>
            <a:ext cx="7177209" cy="3020917"/>
          </a:xfrm>
          <a:prstGeom prst="roundRect">
            <a:avLst>
              <a:gd name="adj" fmla="val 2522"/>
            </a:avLst>
          </a:prstGeom>
          <a:solidFill>
            <a:srgbClr val="161B22"/>
          </a:solidFill>
          <a:ln w="8204">
            <a:solidFill>
              <a:srgbClr val="30363D"/>
            </a:solidFill>
            <a:prstDash val="solid"/>
          </a:ln>
        </p:spPr>
        <p:txBody>
          <a:bodyPr/>
          <a:lstStyle/>
          <a:p>
            <a:endParaRPr lang="en-US"/>
          </a:p>
        </p:txBody>
      </p:sp>
      <p:pic>
        <p:nvPicPr>
          <p:cNvPr id="2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490270" y="4603290"/>
            <a:ext cx="323807" cy="323807"/>
          </a:xfrm>
          <a:prstGeom prst="rect">
            <a:avLst/>
          </a:prstGeom>
        </p:spPr>
      </p:pic>
      <p:sp>
        <p:nvSpPr>
          <p:cNvPr id="30" name="Text 19"/>
          <p:cNvSpPr/>
          <p:nvPr/>
        </p:nvSpPr>
        <p:spPr>
          <a:xfrm>
            <a:off x="10490270" y="5188475"/>
            <a:ext cx="6512378" cy="95260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8B949E"/>
                </a:solidFill>
                <a:latin typeface="Inter" pitchFamily="34" charset="0"/>
                <a:ea typeface="Inter" pitchFamily="34" charset="-122"/>
                <a:cs typeface="Inter" pitchFamily="34" charset="-120"/>
              </a:rPr>
              <a:t>Ask your best salesperson why a deal fell apart — </a:t>
            </a:r>
            <a:r>
              <a:rPr lang="en-US" sz="2400" dirty="0">
                <a:solidFill>
                  <a:srgbClr val="F0F6FC"/>
                </a:solidFill>
                <a:latin typeface="Inter" pitchFamily="34" charset="0"/>
                <a:ea typeface="Inter" pitchFamily="34" charset="-122"/>
                <a:cs typeface="Inter" pitchFamily="34" charset="-120"/>
              </a:rPr>
              <a:t>they know.</a:t>
            </a:r>
            <a:endParaRPr lang="en-US" sz="2400" dirty="0"/>
          </a:p>
        </p:txBody>
      </p:sp>
      <p:sp>
        <p:nvSpPr>
          <p:cNvPr id="31" name="Text 20"/>
          <p:cNvSpPr/>
          <p:nvPr/>
        </p:nvSpPr>
        <p:spPr>
          <a:xfrm>
            <a:off x="10490270" y="6312442"/>
            <a:ext cx="6954967" cy="495352"/>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8B949E"/>
                </a:solidFill>
                <a:latin typeface="Inter" pitchFamily="34" charset="0"/>
                <a:ea typeface="Inter" pitchFamily="34" charset="-122"/>
                <a:cs typeface="Inter" pitchFamily="34" charset="-120"/>
              </a:rPr>
              <a:t>Ask your CRM. </a:t>
            </a:r>
            <a:r>
              <a:rPr lang="en-US" sz="2400" dirty="0">
                <a:solidFill>
                  <a:srgbClr val="F0F6FC"/>
                </a:solidFill>
                <a:latin typeface="Inter" pitchFamily="34" charset="0"/>
                <a:ea typeface="Inter" pitchFamily="34" charset="-122"/>
                <a:cs typeface="Inter" pitchFamily="34" charset="-120"/>
              </a:rPr>
              <a:t>It won't.</a:t>
            </a:r>
            <a:endParaRPr lang="en-US" sz="2400" dirty="0"/>
          </a:p>
        </p:txBody>
      </p:sp>
      <p:sp>
        <p:nvSpPr>
          <p:cNvPr id="32" name="Text 21"/>
          <p:cNvSpPr/>
          <p:nvPr/>
        </p:nvSpPr>
        <p:spPr>
          <a:xfrm>
            <a:off x="10063014" y="7577930"/>
            <a:ext cx="7894930" cy="563806"/>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450" b="1" kern="0" spc="-69" dirty="0">
                <a:solidFill>
                  <a:srgbClr val="F0F6FC"/>
                </a:solidFill>
                <a:latin typeface="Space Grotesk" pitchFamily="34" charset="0"/>
                <a:ea typeface="Space Grotesk" pitchFamily="34" charset="-122"/>
                <a:cs typeface="Space Grotesk" pitchFamily="34" charset="-120"/>
              </a:rPr>
              <a:t>Every AI agent starts from </a:t>
            </a:r>
            <a:r>
              <a:rPr lang="en-US" sz="3450" b="1" kern="0" spc="-69" dirty="0">
                <a:solidFill>
                  <a:srgbClr val="FF6B00"/>
                </a:solidFill>
                <a:latin typeface="Space Grotesk" pitchFamily="34" charset="0"/>
                <a:ea typeface="Space Grotesk" pitchFamily="34" charset="-122"/>
                <a:cs typeface="Space Grotesk" pitchFamily="34" charset="-120"/>
              </a:rPr>
              <a:t>zero.</a:t>
            </a:r>
            <a:endParaRPr lang="en-US" sz="3450" dirty="0"/>
          </a:p>
        </p:txBody>
      </p:sp>
      <p:pic>
        <p:nvPicPr>
          <p:cNvPr id="33" name="Picture 32">
            <a:extLst>
              <a:ext uri="{FF2B5EF4-FFF2-40B4-BE49-F238E27FC236}">
                <a16:creationId xmlns:a16="http://schemas.microsoft.com/office/drawing/2014/main" id="{4925BC3E-1009-F825-C509-CF5098935BAC}"/>
              </a:ext>
            </a:extLst>
          </p:cNvPr>
          <p:cNvPicPr>
            <a:picLocks noChangeAspect="1"/>
          </p:cNvPicPr>
          <p:nvPr/>
        </p:nvPicPr>
        <p:blipFill>
          <a:blip r:embed="rId12"/>
          <a:stretch>
            <a:fillRect/>
          </a:stretch>
        </p:blipFill>
        <p:spPr>
          <a:xfrm>
            <a:off x="15314892" y="565831"/>
            <a:ext cx="2293110" cy="12887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WHY NOW</a:t>
            </a:r>
            <a:endParaRPr lang="en-US" sz="1800" dirty="0"/>
          </a:p>
        </p:txBody>
      </p:sp>
      <p:sp>
        <p:nvSpPr>
          <p:cNvPr id="3" name="Text 1"/>
          <p:cNvSpPr/>
          <p:nvPr/>
        </p:nvSpPr>
        <p:spPr>
          <a:xfrm>
            <a:off x="1047694" y="1353811"/>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AI is changing from assistant to worker.</a:t>
            </a:r>
            <a:endParaRPr lang="en-US" sz="5250" dirty="0"/>
          </a:p>
        </p:txBody>
      </p:sp>
      <p:sp>
        <p:nvSpPr>
          <p:cNvPr id="4" name="Shape 2"/>
          <p:cNvSpPr/>
          <p:nvPr/>
        </p:nvSpPr>
        <p:spPr>
          <a:xfrm>
            <a:off x="1047694" y="2816582"/>
            <a:ext cx="7315269" cy="2161662"/>
          </a:xfrm>
          <a:prstGeom prst="roundRect">
            <a:avLst>
              <a:gd name="adj" fmla="val 3525"/>
            </a:avLst>
          </a:prstGeom>
          <a:solidFill>
            <a:srgbClr val="161B22"/>
          </a:solidFill>
          <a:ln w="8204">
            <a:solidFill>
              <a:srgbClr val="30363D"/>
            </a:solidFill>
            <a:prstDash val="solid"/>
          </a:ln>
        </p:spPr>
        <p:txBody>
          <a:bodyPr/>
          <a:lstStyle/>
          <a:p>
            <a:endParaRPr lang="en-U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6878" y="3205766"/>
            <a:ext cx="380980" cy="380980"/>
          </a:xfrm>
          <a:prstGeom prst="rect">
            <a:avLst/>
          </a:prstGeom>
        </p:spPr>
      </p:pic>
      <p:sp>
        <p:nvSpPr>
          <p:cNvPr id="6" name="Text 3"/>
          <p:cNvSpPr/>
          <p:nvPr/>
        </p:nvSpPr>
        <p:spPr>
          <a:xfrm>
            <a:off x="1436878" y="3810052"/>
            <a:ext cx="7190592"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Before</a:t>
            </a:r>
            <a:endParaRPr lang="en-US" sz="2025" dirty="0"/>
          </a:p>
        </p:txBody>
      </p:sp>
      <p:sp>
        <p:nvSpPr>
          <p:cNvPr id="7" name="Text 4"/>
          <p:cNvSpPr/>
          <p:nvPr/>
        </p:nvSpPr>
        <p:spPr>
          <a:xfrm>
            <a:off x="1436878" y="4178854"/>
            <a:ext cx="7190592" cy="448307"/>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0F6FC"/>
                </a:solidFill>
                <a:latin typeface="Inter" pitchFamily="34" charset="0"/>
                <a:ea typeface="Inter" pitchFamily="34" charset="-122"/>
                <a:cs typeface="Inter" pitchFamily="34" charset="-120"/>
              </a:rPr>
              <a:t>AI answers questions</a:t>
            </a:r>
            <a:endParaRPr lang="en-US" sz="27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82015" y="3754546"/>
            <a:ext cx="723887" cy="285735"/>
          </a:xfrm>
          <a:prstGeom prst="rect">
            <a:avLst/>
          </a:prstGeom>
        </p:spPr>
      </p:pic>
      <p:sp>
        <p:nvSpPr>
          <p:cNvPr id="9" name="Shape 5"/>
          <p:cNvSpPr/>
          <p:nvPr/>
        </p:nvSpPr>
        <p:spPr>
          <a:xfrm>
            <a:off x="9924953" y="2816582"/>
            <a:ext cx="7315269" cy="2161662"/>
          </a:xfrm>
          <a:prstGeom prst="roundRect">
            <a:avLst>
              <a:gd name="adj" fmla="val 3525"/>
            </a:avLst>
          </a:prstGeom>
          <a:solidFill>
            <a:srgbClr val="FF6B00">
              <a:alpha val="10000"/>
            </a:srgbClr>
          </a:solidFill>
          <a:ln w="8204">
            <a:solidFill>
              <a:srgbClr val="FF6B00"/>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4138" y="3205766"/>
            <a:ext cx="380980" cy="380980"/>
          </a:xfrm>
          <a:prstGeom prst="rect">
            <a:avLst/>
          </a:prstGeom>
        </p:spPr>
      </p:pic>
      <p:sp>
        <p:nvSpPr>
          <p:cNvPr id="11" name="Text 6"/>
          <p:cNvSpPr/>
          <p:nvPr/>
        </p:nvSpPr>
        <p:spPr>
          <a:xfrm>
            <a:off x="10314138" y="3810052"/>
            <a:ext cx="7190592"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Now</a:t>
            </a:r>
            <a:endParaRPr lang="en-US" sz="2025" dirty="0"/>
          </a:p>
        </p:txBody>
      </p:sp>
      <p:sp>
        <p:nvSpPr>
          <p:cNvPr id="12" name="Text 7"/>
          <p:cNvSpPr/>
          <p:nvPr/>
        </p:nvSpPr>
        <p:spPr>
          <a:xfrm>
            <a:off x="10314138" y="4178854"/>
            <a:ext cx="7190592" cy="448307"/>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0F6FC"/>
                </a:solidFill>
                <a:latin typeface="Inter" pitchFamily="34" charset="0"/>
                <a:ea typeface="Inter" pitchFamily="34" charset="-122"/>
                <a:cs typeface="Inter" pitchFamily="34" charset="-120"/>
              </a:rPr>
              <a:t>AI performs work</a:t>
            </a:r>
            <a:endParaRPr lang="en-US" sz="2700" dirty="0"/>
          </a:p>
        </p:txBody>
      </p:sp>
      <p:sp>
        <p:nvSpPr>
          <p:cNvPr id="13" name="Text 8"/>
          <p:cNvSpPr/>
          <p:nvPr/>
        </p:nvSpPr>
        <p:spPr>
          <a:xfrm>
            <a:off x="1047694" y="5541638"/>
            <a:ext cx="6598201" cy="97696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550" dirty="0">
                <a:solidFill>
                  <a:srgbClr val="8B949E"/>
                </a:solidFill>
                <a:latin typeface="Inter" pitchFamily="34" charset="0"/>
                <a:ea typeface="Inter" pitchFamily="34" charset="-122"/>
                <a:cs typeface="Inter" pitchFamily="34" charset="-120"/>
              </a:rPr>
              <a:t>But every worker needs context. </a:t>
            </a:r>
            <a:r>
              <a:rPr lang="en-US" sz="2550" dirty="0">
                <a:solidFill>
                  <a:srgbClr val="F0F6FC"/>
                </a:solidFill>
                <a:latin typeface="Inter" pitchFamily="34" charset="0"/>
                <a:ea typeface="Inter" pitchFamily="34" charset="-122"/>
                <a:cs typeface="Inter" pitchFamily="34" charset="-120"/>
              </a:rPr>
              <a:t>AI workers are no different.</a:t>
            </a:r>
            <a:endParaRPr lang="en-US" sz="2550" dirty="0"/>
          </a:p>
        </p:txBody>
      </p:sp>
      <p:sp>
        <p:nvSpPr>
          <p:cNvPr id="14" name="Shape 9"/>
          <p:cNvSpPr/>
          <p:nvPr/>
        </p:nvSpPr>
        <p:spPr>
          <a:xfrm>
            <a:off x="7987111" y="5633421"/>
            <a:ext cx="4112195" cy="755293"/>
          </a:xfrm>
          <a:prstGeom prst="roundRect">
            <a:avLst>
              <a:gd name="adj" fmla="val 10089"/>
            </a:avLst>
          </a:prstGeom>
          <a:ln w="8204">
            <a:solidFill>
              <a:srgbClr val="484F58"/>
            </a:solidFill>
            <a:prstDash val="dash"/>
          </a:ln>
        </p:spPr>
        <p:txBody>
          <a:bodyPr/>
          <a:lstStyle/>
          <a:p>
            <a:endParaRPr lang="en-US"/>
          </a:p>
        </p:txBody>
      </p:sp>
      <p:sp>
        <p:nvSpPr>
          <p:cNvPr id="15" name="Text 10"/>
          <p:cNvSpPr/>
          <p:nvPr/>
        </p:nvSpPr>
        <p:spPr>
          <a:xfrm>
            <a:off x="8242965" y="5851175"/>
            <a:ext cx="3723853" cy="357885"/>
          </a:xfrm>
          <a:prstGeom prst="rect">
            <a:avLst/>
          </a:prstGeom>
          <a:noFill/>
          <a:ln/>
        </p:spPr>
        <p:txBody>
          <a:bodyPr wrap="square" lIns="25400" tIns="25400" rIns="25400" bIns="25400" rtlCol="0" anchor="t">
            <a:normAutofit lnSpcReduction="10000"/>
          </a:bodyPr>
          <a:lstStyle/>
          <a:p>
            <a:pPr marL="0" indent="0" algn="l">
              <a:buNone/>
            </a:pPr>
            <a:r>
              <a:rPr lang="en-US" sz="2100" strike="sngStrike" dirty="0">
                <a:solidFill>
                  <a:srgbClr val="484F58"/>
                </a:solidFill>
                <a:latin typeface="Inter" pitchFamily="34" charset="0"/>
                <a:ea typeface="Inter" pitchFamily="34" charset="-122"/>
                <a:cs typeface="Inter" pitchFamily="34" charset="-120"/>
              </a:rPr>
              <a:t>More model intelligence</a:t>
            </a:r>
            <a:endParaRPr lang="en-US" sz="21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327868" y="5887237"/>
            <a:ext cx="571469" cy="247534"/>
          </a:xfrm>
          <a:prstGeom prst="rect">
            <a:avLst/>
          </a:prstGeom>
        </p:spPr>
      </p:pic>
      <p:sp>
        <p:nvSpPr>
          <p:cNvPr id="17" name="Shape 11"/>
          <p:cNvSpPr/>
          <p:nvPr/>
        </p:nvSpPr>
        <p:spPr>
          <a:xfrm>
            <a:off x="13127900" y="5473441"/>
            <a:ext cx="4112323" cy="1075255"/>
          </a:xfrm>
          <a:prstGeom prst="roundRect">
            <a:avLst>
              <a:gd name="adj" fmla="val 7087"/>
            </a:avLst>
          </a:prstGeom>
          <a:solidFill>
            <a:srgbClr val="FF6B00">
              <a:alpha val="10000"/>
            </a:srgbClr>
          </a:solidFill>
          <a:ln w="8204">
            <a:solidFill>
              <a:srgbClr val="FF6B00"/>
            </a:solidFill>
            <a:prstDash val="solid"/>
          </a:ln>
        </p:spPr>
        <p:txBody>
          <a:bodyPr/>
          <a:lstStyle/>
          <a:p>
            <a:endParaRPr lang="en-US"/>
          </a:p>
        </p:txBody>
      </p:sp>
      <p:sp>
        <p:nvSpPr>
          <p:cNvPr id="18" name="Text 12"/>
          <p:cNvSpPr/>
          <p:nvPr/>
        </p:nvSpPr>
        <p:spPr>
          <a:xfrm>
            <a:off x="13383754" y="5691195"/>
            <a:ext cx="3723985" cy="677846"/>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0F6FC"/>
                </a:solidFill>
                <a:latin typeface="Inter" pitchFamily="34" charset="0"/>
                <a:ea typeface="Inter" pitchFamily="34" charset="-122"/>
                <a:cs typeface="Inter" pitchFamily="34" charset="-120"/>
              </a:rPr>
              <a:t>Organizational understanding</a:t>
            </a:r>
            <a:endParaRPr lang="en-US" sz="2100" dirty="0"/>
          </a:p>
        </p:txBody>
      </p:sp>
      <p:sp>
        <p:nvSpPr>
          <p:cNvPr id="19" name="Shape 13"/>
          <p:cNvSpPr/>
          <p:nvPr/>
        </p:nvSpPr>
        <p:spPr>
          <a:xfrm>
            <a:off x="1047694" y="8797013"/>
            <a:ext cx="7917760" cy="632744"/>
          </a:xfrm>
          <a:prstGeom prst="roundRect">
            <a:avLst>
              <a:gd name="adj" fmla="val 50000"/>
            </a:avLst>
          </a:prstGeom>
          <a:solidFill>
            <a:srgbClr val="FF6B00">
              <a:alpha val="10000"/>
            </a:srgbClr>
          </a:solidFill>
          <a:ln w="8204">
            <a:solidFill>
              <a:srgbClr val="FF6B00"/>
            </a:solidFill>
            <a:prstDash val="solid"/>
          </a:ln>
        </p:spPr>
        <p:txBody>
          <a:bodyPr/>
          <a:lstStyle/>
          <a:p>
            <a:endParaRPr lang="en-US"/>
          </a:p>
        </p:txBody>
      </p:sp>
      <p:sp>
        <p:nvSpPr>
          <p:cNvPr id="20" name="Shape 14"/>
          <p:cNvSpPr/>
          <p:nvPr/>
        </p:nvSpPr>
        <p:spPr>
          <a:xfrm>
            <a:off x="1341633" y="9070570"/>
            <a:ext cx="85631" cy="85631"/>
          </a:xfrm>
          <a:prstGeom prst="ellipse">
            <a:avLst/>
          </a:prstGeom>
          <a:solidFill>
            <a:srgbClr val="FF6B00"/>
          </a:solidFill>
          <a:ln/>
        </p:spPr>
        <p:txBody>
          <a:bodyPr/>
          <a:lstStyle/>
          <a:p>
            <a:endParaRPr lang="en-US"/>
          </a:p>
        </p:txBody>
      </p:sp>
      <p:sp>
        <p:nvSpPr>
          <p:cNvPr id="21" name="Text 15"/>
          <p:cNvSpPr/>
          <p:nvPr/>
        </p:nvSpPr>
        <p:spPr>
          <a:xfrm>
            <a:off x="1560580" y="8957507"/>
            <a:ext cx="7324263" cy="349857"/>
          </a:xfrm>
          <a:prstGeom prst="rect">
            <a:avLst/>
          </a:prstGeom>
          <a:noFill/>
          <a:ln/>
        </p:spPr>
        <p:txBody>
          <a:bodyPr wrap="square" lIns="0" tIns="0" rIns="0" bIns="0" rtlCol="0" anchor="t">
            <a:normAutofit/>
          </a:bodyPr>
          <a:lstStyle/>
          <a:p>
            <a:pPr marL="0" indent="0" algn="l">
              <a:buNone/>
            </a:pPr>
            <a:r>
              <a:rPr lang="en-US" sz="2025" b="1" dirty="0">
                <a:solidFill>
                  <a:srgbClr val="F0F6FC"/>
                </a:solidFill>
                <a:latin typeface="Inter" pitchFamily="34" charset="0"/>
                <a:ea typeface="Inter" pitchFamily="34" charset="-122"/>
                <a:cs typeface="Inter" pitchFamily="34" charset="-120"/>
              </a:rPr>
              <a:t>Company Brain — an emerging AI infrastructure category</a:t>
            </a:r>
            <a:endParaRPr lang="en-US" sz="2025" dirty="0"/>
          </a:p>
        </p:txBody>
      </p:sp>
      <p:pic>
        <p:nvPicPr>
          <p:cNvPr id="22" name="Picture 21">
            <a:extLst>
              <a:ext uri="{FF2B5EF4-FFF2-40B4-BE49-F238E27FC236}">
                <a16:creationId xmlns:a16="http://schemas.microsoft.com/office/drawing/2014/main" id="{7C7073DE-4EC6-E9E2-2DF4-7DACBDEA29B3}"/>
              </a:ext>
            </a:extLst>
          </p:cNvPr>
          <p:cNvPicPr>
            <a:picLocks noChangeAspect="1"/>
          </p:cNvPicPr>
          <p:nvPr/>
        </p:nvPicPr>
        <p:blipFill>
          <a:blip r:embed="rId7"/>
          <a:stretch>
            <a:fillRect/>
          </a:stretch>
        </p:blipFill>
        <p:spPr>
          <a:xfrm>
            <a:off x="15314892" y="565831"/>
            <a:ext cx="2293110" cy="12887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THE SOLUTION</a:t>
            </a:r>
            <a:endParaRPr lang="en-US" sz="1800" dirty="0"/>
          </a:p>
        </p:txBody>
      </p:sp>
      <p:sp>
        <p:nvSpPr>
          <p:cNvPr id="3" name="Text 1"/>
          <p:cNvSpPr/>
          <p:nvPr/>
        </p:nvSpPr>
        <p:spPr>
          <a:xfrm>
            <a:off x="1047694" y="1334839"/>
            <a:ext cx="17811782" cy="719043"/>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0F6FC"/>
                </a:solidFill>
                <a:latin typeface="Space Grotesk" pitchFamily="34" charset="0"/>
                <a:ea typeface="Space Grotesk" pitchFamily="34" charset="-122"/>
                <a:cs typeface="Space Grotesk" pitchFamily="34" charset="-120"/>
              </a:rPr>
              <a:t>Zero Manual = The Self-Driving Company Brain</a:t>
            </a:r>
            <a:endParaRPr lang="en-US" sz="4200" dirty="0"/>
          </a:p>
        </p:txBody>
      </p:sp>
      <p:sp>
        <p:nvSpPr>
          <p:cNvPr id="4" name="Shape 2"/>
          <p:cNvSpPr/>
          <p:nvPr/>
        </p:nvSpPr>
        <p:spPr>
          <a:xfrm>
            <a:off x="2367534" y="3246146"/>
            <a:ext cx="1358169"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5" name="Text 3"/>
          <p:cNvSpPr/>
          <p:nvPr/>
        </p:nvSpPr>
        <p:spPr>
          <a:xfrm>
            <a:off x="2547188" y="3349600"/>
            <a:ext cx="1075061"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Meetings</a:t>
            </a:r>
            <a:endParaRPr lang="en-US" sz="1800" dirty="0"/>
          </a:p>
        </p:txBody>
      </p:sp>
      <p:sp>
        <p:nvSpPr>
          <p:cNvPr id="6" name="Shape 4"/>
          <p:cNvSpPr/>
          <p:nvPr/>
        </p:nvSpPr>
        <p:spPr>
          <a:xfrm>
            <a:off x="3839920" y="3246146"/>
            <a:ext cx="1462644"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7" name="Text 5"/>
          <p:cNvSpPr/>
          <p:nvPr/>
        </p:nvSpPr>
        <p:spPr>
          <a:xfrm>
            <a:off x="4019574" y="3349600"/>
            <a:ext cx="1179535"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Messages</a:t>
            </a:r>
            <a:endParaRPr lang="en-US" sz="1800" dirty="0"/>
          </a:p>
        </p:txBody>
      </p:sp>
      <p:sp>
        <p:nvSpPr>
          <p:cNvPr id="8" name="Shape 6"/>
          <p:cNvSpPr/>
          <p:nvPr/>
        </p:nvSpPr>
        <p:spPr>
          <a:xfrm>
            <a:off x="5416781" y="3246146"/>
            <a:ext cx="1588654"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9" name="Text 7"/>
          <p:cNvSpPr/>
          <p:nvPr/>
        </p:nvSpPr>
        <p:spPr>
          <a:xfrm>
            <a:off x="5596435" y="3349600"/>
            <a:ext cx="1305546"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Documents</a:t>
            </a:r>
            <a:endParaRPr lang="en-US" sz="1800" dirty="0"/>
          </a:p>
        </p:txBody>
      </p:sp>
      <p:sp>
        <p:nvSpPr>
          <p:cNvPr id="10" name="Shape 8"/>
          <p:cNvSpPr/>
          <p:nvPr/>
        </p:nvSpPr>
        <p:spPr>
          <a:xfrm>
            <a:off x="7119652" y="3246146"/>
            <a:ext cx="938989"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11" name="Text 9"/>
          <p:cNvSpPr/>
          <p:nvPr/>
        </p:nvSpPr>
        <p:spPr>
          <a:xfrm>
            <a:off x="7299306" y="3349600"/>
            <a:ext cx="655881"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Tools</a:t>
            </a:r>
            <a:endParaRPr lang="en-US" sz="1800" dirty="0"/>
          </a:p>
        </p:txBody>
      </p:sp>
      <p:sp>
        <p:nvSpPr>
          <p:cNvPr id="12" name="Text 10"/>
          <p:cNvSpPr/>
          <p:nvPr/>
        </p:nvSpPr>
        <p:spPr>
          <a:xfrm>
            <a:off x="4258588" y="3865302"/>
            <a:ext cx="210004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Company Activity</a:t>
            </a:r>
            <a:endParaRPr lang="en-US" sz="180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08357" y="4277560"/>
            <a:ext cx="209462" cy="228562"/>
          </a:xfrm>
          <a:prstGeom prst="rect">
            <a:avLst/>
          </a:prstGeom>
        </p:spPr>
      </p:pic>
      <p:sp>
        <p:nvSpPr>
          <p:cNvPr id="14" name="Shape 11"/>
          <p:cNvSpPr/>
          <p:nvPr/>
        </p:nvSpPr>
        <p:spPr>
          <a:xfrm>
            <a:off x="3956445" y="4639439"/>
            <a:ext cx="2633656" cy="681969"/>
          </a:xfrm>
          <a:prstGeom prst="roundRect">
            <a:avLst>
              <a:gd name="adj" fmla="val 11174"/>
            </a:avLst>
          </a:prstGeom>
          <a:noFill/>
          <a:ln w="8204">
            <a:solidFill>
              <a:srgbClr val="FF6B00"/>
            </a:solidFill>
            <a:prstDash val="solid"/>
          </a:ln>
        </p:spPr>
        <p:txBody>
          <a:bodyPr/>
          <a:lstStyle/>
          <a:p>
            <a:endParaRPr lang="en-US" dirty="0">
              <a:highlight>
                <a:srgbClr val="FFFF00"/>
              </a:highlight>
            </a:endParaRPr>
          </a:p>
        </p:txBody>
      </p:sp>
      <p:sp>
        <p:nvSpPr>
          <p:cNvPr id="15" name="Text 12"/>
          <p:cNvSpPr/>
          <p:nvPr/>
        </p:nvSpPr>
        <p:spPr>
          <a:xfrm>
            <a:off x="4623237" y="4778970"/>
            <a:ext cx="1843364" cy="498362"/>
          </a:xfrm>
          <a:prstGeom prst="rect">
            <a:avLst/>
          </a:prstGeom>
          <a:noFill/>
          <a:ln/>
        </p:spPr>
        <p:txBody>
          <a:bodyPr wrap="square" lIns="25400" tIns="25400" rIns="25400" bIns="25400" rtlCol="0" anchor="t">
            <a:normAutofit/>
          </a:bodyPr>
          <a:lstStyle/>
          <a:p>
            <a:pPr marL="0" indent="0" algn="l">
              <a:buNone/>
            </a:pPr>
            <a:r>
              <a:rPr lang="en-US" sz="2400" b="1" kern="0" spc="-22" dirty="0" err="1">
                <a:solidFill>
                  <a:schemeClr val="bg1"/>
                </a:solidFill>
                <a:latin typeface="Space Grotesk" pitchFamily="34" charset="0"/>
                <a:ea typeface="Space Grotesk" pitchFamily="34" charset="-122"/>
                <a:cs typeface="Space Grotesk" pitchFamily="34" charset="-120"/>
              </a:rPr>
              <a:t>ZeroManual</a:t>
            </a:r>
            <a:endParaRPr lang="en-US" sz="2400" dirty="0">
              <a:solidFill>
                <a:schemeClr val="bg1"/>
              </a:solidFill>
            </a:endParaRPr>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08357" y="5454725"/>
            <a:ext cx="209462" cy="228562"/>
          </a:xfrm>
          <a:prstGeom prst="rect">
            <a:avLst/>
          </a:prstGeom>
        </p:spPr>
      </p:pic>
      <p:sp>
        <p:nvSpPr>
          <p:cNvPr id="17" name="Shape 13"/>
          <p:cNvSpPr/>
          <p:nvPr/>
        </p:nvSpPr>
        <p:spPr>
          <a:xfrm>
            <a:off x="2736592" y="5816604"/>
            <a:ext cx="4952991" cy="1728124"/>
          </a:xfrm>
          <a:prstGeom prst="roundRect">
            <a:avLst>
              <a:gd name="adj" fmla="val 4409"/>
            </a:avLst>
          </a:prstGeom>
          <a:solidFill>
            <a:srgbClr val="FF6B00">
              <a:alpha val="10000"/>
            </a:srgbClr>
          </a:solidFill>
          <a:ln w="8204">
            <a:solidFill>
              <a:srgbClr val="FF6B00"/>
            </a:solidFill>
            <a:prstDash val="solid"/>
          </a:ln>
        </p:spPr>
        <p:txBody>
          <a:bodyPr/>
          <a:lstStyle/>
          <a:p>
            <a:endParaRPr lang="en-US"/>
          </a:p>
        </p:txBody>
      </p:sp>
      <p:sp>
        <p:nvSpPr>
          <p:cNvPr id="18" name="Text 14"/>
          <p:cNvSpPr/>
          <p:nvPr/>
        </p:nvSpPr>
        <p:spPr>
          <a:xfrm>
            <a:off x="2770255" y="6072343"/>
            <a:ext cx="4885666" cy="333449"/>
          </a:xfrm>
          <a:prstGeom prst="rect">
            <a:avLst/>
          </a:prstGeom>
          <a:noFill/>
          <a:ln/>
        </p:spPr>
        <p:txBody>
          <a:bodyPr wrap="square" lIns="25400" tIns="25400" rIns="25400" bIns="25400" rtlCol="0" anchor="t">
            <a:normAutofit lnSpcReduction="10000"/>
          </a:bodyPr>
          <a:lstStyle/>
          <a:p>
            <a:pPr marL="0" indent="0" algn="ctr">
              <a:buNone/>
            </a:pPr>
            <a:r>
              <a:rPr lang="en-US" sz="1950" b="1" dirty="0">
                <a:solidFill>
                  <a:srgbClr val="F0F6FC"/>
                </a:solidFill>
                <a:latin typeface="Inter" pitchFamily="34" charset="0"/>
                <a:ea typeface="Inter" pitchFamily="34" charset="-122"/>
                <a:cs typeface="Inter" pitchFamily="34" charset="-120"/>
              </a:rPr>
              <a:t>Living Company Brain</a:t>
            </a:r>
            <a:endParaRPr lang="en-US" sz="1950"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70338" y="6558181"/>
            <a:ext cx="323807" cy="323807"/>
          </a:xfrm>
          <a:prstGeom prst="rect">
            <a:avLst/>
          </a:prstGeom>
        </p:spPr>
      </p:pic>
      <p:sp>
        <p:nvSpPr>
          <p:cNvPr id="20" name="Text 15"/>
          <p:cNvSpPr/>
          <p:nvPr/>
        </p:nvSpPr>
        <p:spPr>
          <a:xfrm>
            <a:off x="3284731" y="7010050"/>
            <a:ext cx="971348"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Memory</a:t>
            </a:r>
            <a:endParaRPr lang="en-US" sz="180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23086" y="6558181"/>
            <a:ext cx="323807" cy="323807"/>
          </a:xfrm>
          <a:prstGeom prst="rect">
            <a:avLst/>
          </a:prstGeom>
        </p:spPr>
      </p:pic>
      <p:sp>
        <p:nvSpPr>
          <p:cNvPr id="22" name="Text 16"/>
          <p:cNvSpPr/>
          <p:nvPr/>
        </p:nvSpPr>
        <p:spPr>
          <a:xfrm>
            <a:off x="4764680" y="7010050"/>
            <a:ext cx="136468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Intelligence</a:t>
            </a:r>
            <a:endParaRPr lang="en-US" sz="180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03805" y="6558181"/>
            <a:ext cx="323807" cy="323807"/>
          </a:xfrm>
          <a:prstGeom prst="rect">
            <a:avLst/>
          </a:prstGeom>
        </p:spPr>
      </p:pic>
      <p:sp>
        <p:nvSpPr>
          <p:cNvPr id="24" name="Text 17"/>
          <p:cNvSpPr/>
          <p:nvPr/>
        </p:nvSpPr>
        <p:spPr>
          <a:xfrm>
            <a:off x="6590101" y="7010050"/>
            <a:ext cx="62754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Trust</a:t>
            </a:r>
            <a:endParaRPr lang="en-US" sz="180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08357" y="7678046"/>
            <a:ext cx="209462" cy="228562"/>
          </a:xfrm>
          <a:prstGeom prst="rect">
            <a:avLst/>
          </a:prstGeom>
        </p:spPr>
      </p:pic>
      <p:sp>
        <p:nvSpPr>
          <p:cNvPr id="26" name="Shape 18"/>
          <p:cNvSpPr/>
          <p:nvPr/>
        </p:nvSpPr>
        <p:spPr>
          <a:xfrm>
            <a:off x="3300242" y="8039926"/>
            <a:ext cx="3825691" cy="578392"/>
          </a:xfrm>
          <a:prstGeom prst="roundRect">
            <a:avLst>
              <a:gd name="adj" fmla="val 13174"/>
            </a:avLst>
          </a:prstGeom>
          <a:solidFill>
            <a:srgbClr val="1A2B3C"/>
          </a:solidFill>
          <a:ln w="8204">
            <a:solidFill>
              <a:srgbClr val="30363D"/>
            </a:solidFill>
            <a:prstDash val="solid"/>
          </a:ln>
        </p:spPr>
        <p:txBody>
          <a:bodyPr/>
          <a:lstStyle/>
          <a:p>
            <a:endParaRPr lang="en-US"/>
          </a:p>
        </p:txBody>
      </p:sp>
      <p:sp>
        <p:nvSpPr>
          <p:cNvPr id="27" name="Text 19"/>
          <p:cNvSpPr/>
          <p:nvPr/>
        </p:nvSpPr>
        <p:spPr>
          <a:xfrm>
            <a:off x="3632296" y="8181480"/>
            <a:ext cx="3276354" cy="333383"/>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F0F6FC"/>
                </a:solidFill>
                <a:latin typeface="Inter" pitchFamily="34" charset="0"/>
                <a:ea typeface="Inter" pitchFamily="34" charset="-122"/>
                <a:cs typeface="Inter" pitchFamily="34" charset="-120"/>
              </a:rPr>
              <a:t>AI Agents + Tools + Teams</a:t>
            </a:r>
            <a:endParaRPr lang="en-US" sz="1950" dirty="0"/>
          </a:p>
        </p:txBody>
      </p:sp>
      <p:sp>
        <p:nvSpPr>
          <p:cNvPr id="28" name="Text 20"/>
          <p:cNvSpPr/>
          <p:nvPr/>
        </p:nvSpPr>
        <p:spPr>
          <a:xfrm>
            <a:off x="10045324" y="3422279"/>
            <a:ext cx="7914389"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The questions it can finally answer</a:t>
            </a:r>
            <a:endParaRPr lang="en-US" sz="2025" dirty="0"/>
          </a:p>
        </p:txBody>
      </p:sp>
      <p:sp>
        <p:nvSpPr>
          <p:cNvPr id="29" name="Shape 21"/>
          <p:cNvSpPr/>
          <p:nvPr/>
        </p:nvSpPr>
        <p:spPr>
          <a:xfrm>
            <a:off x="10045324" y="3924397"/>
            <a:ext cx="7194899" cy="809902"/>
          </a:xfrm>
          <a:prstGeom prst="roundRect">
            <a:avLst>
              <a:gd name="adj" fmla="val 9409"/>
            </a:avLst>
          </a:prstGeom>
          <a:solidFill>
            <a:srgbClr val="161B22"/>
          </a:solidFill>
          <a:ln/>
        </p:spPr>
        <p:txBody>
          <a:bodyPr/>
          <a:lstStyle/>
          <a:p>
            <a:endParaRPr lang="en-US"/>
          </a:p>
        </p:txBody>
      </p:sp>
      <p:sp>
        <p:nvSpPr>
          <p:cNvPr id="30" name="Shape 22"/>
          <p:cNvSpPr/>
          <p:nvPr/>
        </p:nvSpPr>
        <p:spPr>
          <a:xfrm>
            <a:off x="10045324" y="4726095"/>
            <a:ext cx="7194899" cy="9525"/>
          </a:xfrm>
          <a:prstGeom prst="rect">
            <a:avLst/>
          </a:prstGeom>
          <a:solidFill>
            <a:srgbClr val="30363D"/>
          </a:solidFill>
          <a:ln/>
        </p:spPr>
        <p:txBody>
          <a:bodyPr/>
          <a:lstStyle/>
          <a:p>
            <a:endParaRPr lang="en-US"/>
          </a:p>
        </p:txBody>
      </p:sp>
      <p:sp>
        <p:nvSpPr>
          <p:cNvPr id="31" name="Shape 23"/>
          <p:cNvSpPr/>
          <p:nvPr/>
        </p:nvSpPr>
        <p:spPr>
          <a:xfrm>
            <a:off x="10045324" y="3924397"/>
            <a:ext cx="7194899" cy="9525"/>
          </a:xfrm>
          <a:prstGeom prst="rect">
            <a:avLst/>
          </a:prstGeom>
          <a:solidFill>
            <a:srgbClr val="30363D"/>
          </a:solidFill>
          <a:ln/>
        </p:spPr>
        <p:txBody>
          <a:bodyPr/>
          <a:lstStyle/>
          <a:p>
            <a:endParaRPr lang="en-US"/>
          </a:p>
        </p:txBody>
      </p:sp>
      <p:sp>
        <p:nvSpPr>
          <p:cNvPr id="32" name="Shape 24"/>
          <p:cNvSpPr/>
          <p:nvPr/>
        </p:nvSpPr>
        <p:spPr>
          <a:xfrm>
            <a:off x="10045324" y="3924397"/>
            <a:ext cx="24612" cy="809902"/>
          </a:xfrm>
          <a:prstGeom prst="rect">
            <a:avLst/>
          </a:prstGeom>
          <a:solidFill>
            <a:srgbClr val="FF6B00"/>
          </a:solidFill>
          <a:ln/>
        </p:spPr>
        <p:txBody>
          <a:bodyPr/>
          <a:lstStyle/>
          <a:p>
            <a:endParaRPr lang="en-US"/>
          </a:p>
        </p:txBody>
      </p:sp>
      <p:sp>
        <p:nvSpPr>
          <p:cNvPr id="33" name="Shape 25"/>
          <p:cNvSpPr/>
          <p:nvPr/>
        </p:nvSpPr>
        <p:spPr>
          <a:xfrm>
            <a:off x="17232019" y="3924397"/>
            <a:ext cx="9525" cy="809902"/>
          </a:xfrm>
          <a:prstGeom prst="rect">
            <a:avLst/>
          </a:prstGeom>
          <a:solidFill>
            <a:srgbClr val="30363D"/>
          </a:solidFill>
          <a:ln/>
        </p:spPr>
        <p:txBody>
          <a:bodyPr/>
          <a:lstStyle/>
          <a:p>
            <a:endParaRPr lang="en-US"/>
          </a:p>
        </p:txBody>
      </p:sp>
      <p:sp>
        <p:nvSpPr>
          <p:cNvPr id="34" name="Text 26"/>
          <p:cNvSpPr/>
          <p:nvPr/>
        </p:nvSpPr>
        <p:spPr>
          <a:xfrm>
            <a:off x="10336636" y="4161202"/>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"Why did we choose this vendor?"</a:t>
            </a:r>
            <a:endParaRPr lang="en-US" sz="2175" dirty="0"/>
          </a:p>
        </p:txBody>
      </p:sp>
      <p:sp>
        <p:nvSpPr>
          <p:cNvPr id="35" name="Shape 27"/>
          <p:cNvSpPr/>
          <p:nvPr/>
        </p:nvSpPr>
        <p:spPr>
          <a:xfrm>
            <a:off x="10045324" y="4905689"/>
            <a:ext cx="7194899" cy="809902"/>
          </a:xfrm>
          <a:prstGeom prst="roundRect">
            <a:avLst>
              <a:gd name="adj" fmla="val 9409"/>
            </a:avLst>
          </a:prstGeom>
          <a:solidFill>
            <a:srgbClr val="161B22"/>
          </a:solidFill>
          <a:ln/>
        </p:spPr>
        <p:txBody>
          <a:bodyPr/>
          <a:lstStyle/>
          <a:p>
            <a:endParaRPr lang="en-US"/>
          </a:p>
        </p:txBody>
      </p:sp>
      <p:sp>
        <p:nvSpPr>
          <p:cNvPr id="36" name="Shape 28"/>
          <p:cNvSpPr/>
          <p:nvPr/>
        </p:nvSpPr>
        <p:spPr>
          <a:xfrm>
            <a:off x="10045324" y="5707387"/>
            <a:ext cx="7194899" cy="9525"/>
          </a:xfrm>
          <a:prstGeom prst="rect">
            <a:avLst/>
          </a:prstGeom>
          <a:solidFill>
            <a:srgbClr val="30363D"/>
          </a:solidFill>
          <a:ln/>
        </p:spPr>
        <p:txBody>
          <a:bodyPr/>
          <a:lstStyle/>
          <a:p>
            <a:endParaRPr lang="en-US"/>
          </a:p>
        </p:txBody>
      </p:sp>
      <p:sp>
        <p:nvSpPr>
          <p:cNvPr id="37" name="Shape 29"/>
          <p:cNvSpPr/>
          <p:nvPr/>
        </p:nvSpPr>
        <p:spPr>
          <a:xfrm>
            <a:off x="10045324" y="4905689"/>
            <a:ext cx="7194899" cy="9525"/>
          </a:xfrm>
          <a:prstGeom prst="rect">
            <a:avLst/>
          </a:prstGeom>
          <a:solidFill>
            <a:srgbClr val="30363D"/>
          </a:solidFill>
          <a:ln/>
        </p:spPr>
        <p:txBody>
          <a:bodyPr/>
          <a:lstStyle/>
          <a:p>
            <a:endParaRPr lang="en-US"/>
          </a:p>
        </p:txBody>
      </p:sp>
      <p:sp>
        <p:nvSpPr>
          <p:cNvPr id="38" name="Shape 30"/>
          <p:cNvSpPr/>
          <p:nvPr/>
        </p:nvSpPr>
        <p:spPr>
          <a:xfrm>
            <a:off x="10045324" y="4905689"/>
            <a:ext cx="24612" cy="809902"/>
          </a:xfrm>
          <a:prstGeom prst="rect">
            <a:avLst/>
          </a:prstGeom>
          <a:solidFill>
            <a:srgbClr val="FF6B00"/>
          </a:solidFill>
          <a:ln/>
        </p:spPr>
        <p:txBody>
          <a:bodyPr/>
          <a:lstStyle/>
          <a:p>
            <a:endParaRPr lang="en-US"/>
          </a:p>
        </p:txBody>
      </p:sp>
      <p:sp>
        <p:nvSpPr>
          <p:cNvPr id="39" name="Shape 31"/>
          <p:cNvSpPr/>
          <p:nvPr/>
        </p:nvSpPr>
        <p:spPr>
          <a:xfrm>
            <a:off x="17232019" y="4905689"/>
            <a:ext cx="9525" cy="809902"/>
          </a:xfrm>
          <a:prstGeom prst="rect">
            <a:avLst/>
          </a:prstGeom>
          <a:solidFill>
            <a:srgbClr val="30363D"/>
          </a:solidFill>
          <a:ln/>
        </p:spPr>
        <p:txBody>
          <a:bodyPr/>
          <a:lstStyle/>
          <a:p>
            <a:endParaRPr lang="en-US"/>
          </a:p>
        </p:txBody>
      </p:sp>
      <p:sp>
        <p:nvSpPr>
          <p:cNvPr id="40" name="Text 32"/>
          <p:cNvSpPr/>
          <p:nvPr/>
        </p:nvSpPr>
        <p:spPr>
          <a:xfrm>
            <a:off x="10336636" y="5142493"/>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"What did we promise this customer?"</a:t>
            </a:r>
            <a:endParaRPr lang="en-US" sz="2175" dirty="0"/>
          </a:p>
        </p:txBody>
      </p:sp>
      <p:sp>
        <p:nvSpPr>
          <p:cNvPr id="41" name="Shape 33"/>
          <p:cNvSpPr/>
          <p:nvPr/>
        </p:nvSpPr>
        <p:spPr>
          <a:xfrm>
            <a:off x="10045324" y="5886980"/>
            <a:ext cx="7194899" cy="809902"/>
          </a:xfrm>
          <a:prstGeom prst="roundRect">
            <a:avLst>
              <a:gd name="adj" fmla="val 9409"/>
            </a:avLst>
          </a:prstGeom>
          <a:solidFill>
            <a:srgbClr val="161B22"/>
          </a:solidFill>
          <a:ln/>
        </p:spPr>
        <p:txBody>
          <a:bodyPr/>
          <a:lstStyle/>
          <a:p>
            <a:endParaRPr lang="en-US"/>
          </a:p>
        </p:txBody>
      </p:sp>
      <p:sp>
        <p:nvSpPr>
          <p:cNvPr id="42" name="Shape 34"/>
          <p:cNvSpPr/>
          <p:nvPr/>
        </p:nvSpPr>
        <p:spPr>
          <a:xfrm>
            <a:off x="10045324" y="6688678"/>
            <a:ext cx="7194899" cy="9525"/>
          </a:xfrm>
          <a:prstGeom prst="rect">
            <a:avLst/>
          </a:prstGeom>
          <a:solidFill>
            <a:srgbClr val="30363D"/>
          </a:solidFill>
          <a:ln/>
        </p:spPr>
        <p:txBody>
          <a:bodyPr/>
          <a:lstStyle/>
          <a:p>
            <a:endParaRPr lang="en-US"/>
          </a:p>
        </p:txBody>
      </p:sp>
      <p:sp>
        <p:nvSpPr>
          <p:cNvPr id="43" name="Shape 35"/>
          <p:cNvSpPr/>
          <p:nvPr/>
        </p:nvSpPr>
        <p:spPr>
          <a:xfrm>
            <a:off x="10045324" y="5886980"/>
            <a:ext cx="7194899" cy="9525"/>
          </a:xfrm>
          <a:prstGeom prst="rect">
            <a:avLst/>
          </a:prstGeom>
          <a:solidFill>
            <a:srgbClr val="30363D"/>
          </a:solidFill>
          <a:ln/>
        </p:spPr>
        <p:txBody>
          <a:bodyPr/>
          <a:lstStyle/>
          <a:p>
            <a:endParaRPr lang="en-US"/>
          </a:p>
        </p:txBody>
      </p:sp>
      <p:sp>
        <p:nvSpPr>
          <p:cNvPr id="44" name="Shape 36"/>
          <p:cNvSpPr/>
          <p:nvPr/>
        </p:nvSpPr>
        <p:spPr>
          <a:xfrm>
            <a:off x="10045324" y="5886980"/>
            <a:ext cx="24612" cy="809902"/>
          </a:xfrm>
          <a:prstGeom prst="rect">
            <a:avLst/>
          </a:prstGeom>
          <a:solidFill>
            <a:srgbClr val="FF6B00"/>
          </a:solidFill>
          <a:ln/>
        </p:spPr>
        <p:txBody>
          <a:bodyPr/>
          <a:lstStyle/>
          <a:p>
            <a:endParaRPr lang="en-US"/>
          </a:p>
        </p:txBody>
      </p:sp>
      <p:sp>
        <p:nvSpPr>
          <p:cNvPr id="45" name="Shape 37"/>
          <p:cNvSpPr/>
          <p:nvPr/>
        </p:nvSpPr>
        <p:spPr>
          <a:xfrm>
            <a:off x="17232019" y="5886980"/>
            <a:ext cx="9525" cy="809902"/>
          </a:xfrm>
          <a:prstGeom prst="rect">
            <a:avLst/>
          </a:prstGeom>
          <a:solidFill>
            <a:srgbClr val="30363D"/>
          </a:solidFill>
          <a:ln/>
        </p:spPr>
        <p:txBody>
          <a:bodyPr/>
          <a:lstStyle/>
          <a:p>
            <a:endParaRPr lang="en-US"/>
          </a:p>
        </p:txBody>
      </p:sp>
      <p:sp>
        <p:nvSpPr>
          <p:cNvPr id="46" name="Text 38"/>
          <p:cNvSpPr/>
          <p:nvPr/>
        </p:nvSpPr>
        <p:spPr>
          <a:xfrm>
            <a:off x="10336636" y="6123784"/>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"Has this happened before?"</a:t>
            </a:r>
            <a:endParaRPr lang="en-US" sz="2175" dirty="0"/>
          </a:p>
        </p:txBody>
      </p:sp>
      <p:sp>
        <p:nvSpPr>
          <p:cNvPr id="47" name="Shape 39"/>
          <p:cNvSpPr/>
          <p:nvPr/>
        </p:nvSpPr>
        <p:spPr>
          <a:xfrm>
            <a:off x="10045324" y="6868272"/>
            <a:ext cx="7194899" cy="809902"/>
          </a:xfrm>
          <a:prstGeom prst="roundRect">
            <a:avLst>
              <a:gd name="adj" fmla="val 9409"/>
            </a:avLst>
          </a:prstGeom>
          <a:solidFill>
            <a:srgbClr val="161B22"/>
          </a:solidFill>
          <a:ln/>
        </p:spPr>
        <p:txBody>
          <a:bodyPr/>
          <a:lstStyle/>
          <a:p>
            <a:endParaRPr lang="en-US"/>
          </a:p>
        </p:txBody>
      </p:sp>
      <p:sp>
        <p:nvSpPr>
          <p:cNvPr id="48" name="Shape 40"/>
          <p:cNvSpPr/>
          <p:nvPr/>
        </p:nvSpPr>
        <p:spPr>
          <a:xfrm>
            <a:off x="10045324" y="7669970"/>
            <a:ext cx="7194899" cy="9525"/>
          </a:xfrm>
          <a:prstGeom prst="rect">
            <a:avLst/>
          </a:prstGeom>
          <a:solidFill>
            <a:srgbClr val="30363D"/>
          </a:solidFill>
          <a:ln/>
        </p:spPr>
        <p:txBody>
          <a:bodyPr/>
          <a:lstStyle/>
          <a:p>
            <a:endParaRPr lang="en-US"/>
          </a:p>
        </p:txBody>
      </p:sp>
      <p:sp>
        <p:nvSpPr>
          <p:cNvPr id="49" name="Shape 41"/>
          <p:cNvSpPr/>
          <p:nvPr/>
        </p:nvSpPr>
        <p:spPr>
          <a:xfrm>
            <a:off x="10045324" y="6868272"/>
            <a:ext cx="7194899" cy="9525"/>
          </a:xfrm>
          <a:prstGeom prst="rect">
            <a:avLst/>
          </a:prstGeom>
          <a:solidFill>
            <a:srgbClr val="30363D"/>
          </a:solidFill>
          <a:ln/>
        </p:spPr>
        <p:txBody>
          <a:bodyPr/>
          <a:lstStyle/>
          <a:p>
            <a:endParaRPr lang="en-US"/>
          </a:p>
        </p:txBody>
      </p:sp>
      <p:sp>
        <p:nvSpPr>
          <p:cNvPr id="50" name="Shape 42"/>
          <p:cNvSpPr/>
          <p:nvPr/>
        </p:nvSpPr>
        <p:spPr>
          <a:xfrm>
            <a:off x="10045324" y="6868272"/>
            <a:ext cx="24612" cy="809902"/>
          </a:xfrm>
          <a:prstGeom prst="rect">
            <a:avLst/>
          </a:prstGeom>
          <a:solidFill>
            <a:srgbClr val="FF6B00"/>
          </a:solidFill>
          <a:ln/>
        </p:spPr>
        <p:txBody>
          <a:bodyPr/>
          <a:lstStyle/>
          <a:p>
            <a:endParaRPr lang="en-US"/>
          </a:p>
        </p:txBody>
      </p:sp>
      <p:sp>
        <p:nvSpPr>
          <p:cNvPr id="51" name="Shape 43"/>
          <p:cNvSpPr/>
          <p:nvPr/>
        </p:nvSpPr>
        <p:spPr>
          <a:xfrm>
            <a:off x="17232019" y="6868272"/>
            <a:ext cx="9525" cy="809902"/>
          </a:xfrm>
          <a:prstGeom prst="rect">
            <a:avLst/>
          </a:prstGeom>
          <a:solidFill>
            <a:srgbClr val="30363D"/>
          </a:solidFill>
          <a:ln/>
        </p:spPr>
        <p:txBody>
          <a:bodyPr/>
          <a:lstStyle/>
          <a:p>
            <a:endParaRPr lang="en-US"/>
          </a:p>
        </p:txBody>
      </p:sp>
      <p:sp>
        <p:nvSpPr>
          <p:cNvPr id="52" name="Text 44"/>
          <p:cNvSpPr/>
          <p:nvPr/>
        </p:nvSpPr>
        <p:spPr>
          <a:xfrm>
            <a:off x="10336636" y="7105076"/>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"What should this agent know before acting?"</a:t>
            </a:r>
            <a:endParaRPr lang="en-US" sz="2175" dirty="0"/>
          </a:p>
        </p:txBody>
      </p:sp>
      <p:sp>
        <p:nvSpPr>
          <p:cNvPr id="53" name="Text 45"/>
          <p:cNvSpPr/>
          <p:nvPr/>
        </p:nvSpPr>
        <p:spPr>
          <a:xfrm>
            <a:off x="10045324" y="7982881"/>
            <a:ext cx="7914389" cy="497532"/>
          </a:xfrm>
          <a:prstGeom prst="rect">
            <a:avLst/>
          </a:prstGeom>
          <a:noFill/>
          <a:ln/>
        </p:spPr>
        <p:txBody>
          <a:bodyPr wrap="square" lIns="25400" tIns="25400" rIns="25400" bIns="25400" rtlCol="0" anchor="t">
            <a:normAutofit/>
          </a:bodyPr>
          <a:lstStyle/>
          <a:p>
            <a:pPr marL="0" indent="0" algn="l">
              <a:buNone/>
            </a:pPr>
            <a:r>
              <a:rPr lang="en-US" sz="2850" b="1" kern="0" spc="-57" dirty="0">
                <a:solidFill>
                  <a:srgbClr val="F0F6FC"/>
                </a:solidFill>
                <a:latin typeface="Space Grotesk" pitchFamily="34" charset="0"/>
                <a:ea typeface="Space Grotesk" pitchFamily="34" charset="-122"/>
                <a:cs typeface="Space Grotesk" pitchFamily="34" charset="-120"/>
              </a:rPr>
              <a:t>Context becomes </a:t>
            </a:r>
            <a:r>
              <a:rPr lang="en-US" sz="2850" b="1" kern="0" spc="-57" dirty="0">
                <a:solidFill>
                  <a:srgbClr val="FF6B00"/>
                </a:solidFill>
                <a:latin typeface="Space Grotesk" pitchFamily="34" charset="0"/>
                <a:ea typeface="Space Grotesk" pitchFamily="34" charset="-122"/>
                <a:cs typeface="Space Grotesk" pitchFamily="34" charset="-120"/>
              </a:rPr>
              <a:t>infrastructure.</a:t>
            </a:r>
            <a:endParaRPr lang="en-US" sz="2850" dirty="0"/>
          </a:p>
        </p:txBody>
      </p:sp>
      <p:pic>
        <p:nvPicPr>
          <p:cNvPr id="54" name="Picture 53">
            <a:extLst>
              <a:ext uri="{FF2B5EF4-FFF2-40B4-BE49-F238E27FC236}">
                <a16:creationId xmlns:a16="http://schemas.microsoft.com/office/drawing/2014/main" id="{CA49B8E8-A481-0264-945C-2EC8DC60A55F}"/>
              </a:ext>
            </a:extLst>
          </p:cNvPr>
          <p:cNvPicPr>
            <a:picLocks noChangeAspect="1"/>
          </p:cNvPicPr>
          <p:nvPr/>
        </p:nvPicPr>
        <p:blipFill>
          <a:blip r:embed="rId9"/>
          <a:stretch>
            <a:fillRect/>
          </a:stretch>
        </p:blipFill>
        <p:spPr>
          <a:xfrm>
            <a:off x="15314892" y="565831"/>
            <a:ext cx="2293110" cy="1288727"/>
          </a:xfrm>
          <a:prstGeom prst="rect">
            <a:avLst/>
          </a:prstGeom>
        </p:spPr>
      </p:pic>
      <p:pic>
        <p:nvPicPr>
          <p:cNvPr id="57" name="Image 0" descr="preencoded.png">
            <a:extLst>
              <a:ext uri="{FF2B5EF4-FFF2-40B4-BE49-F238E27FC236}">
                <a16:creationId xmlns:a16="http://schemas.microsoft.com/office/drawing/2014/main" id="{677D350A-8B06-B28A-CB50-6D0A4996A030}"/>
              </a:ext>
            </a:extLst>
          </p:cNvPr>
          <p:cNvPicPr>
            <a:picLocks noChangeAspect="1"/>
          </p:cNvPicPr>
          <p:nvPr/>
        </p:nvPicPr>
        <p:blipFill>
          <a:blip r:embed="rId10"/>
          <a:stretch>
            <a:fillRect/>
          </a:stretch>
        </p:blipFill>
        <p:spPr>
          <a:xfrm>
            <a:off x="4134863" y="4714575"/>
            <a:ext cx="415039" cy="4150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704787"/>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HOW IT DELIVERS</a:t>
            </a:r>
            <a:endParaRPr lang="en-US" sz="1800" dirty="0"/>
          </a:p>
        </p:txBody>
      </p:sp>
      <p:sp>
        <p:nvSpPr>
          <p:cNvPr id="3" name="Text 1"/>
          <p:cNvSpPr/>
          <p:nvPr/>
        </p:nvSpPr>
        <p:spPr>
          <a:xfrm>
            <a:off x="1047694" y="1144221"/>
            <a:ext cx="17811782" cy="719043"/>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0F6FC"/>
                </a:solidFill>
                <a:latin typeface="Space Grotesk" pitchFamily="34" charset="0"/>
                <a:ea typeface="Space Grotesk" pitchFamily="34" charset="-122"/>
                <a:cs typeface="Space Grotesk" pitchFamily="34" charset="-120"/>
              </a:rPr>
              <a:t>The Brain works where work happens.</a:t>
            </a:r>
            <a:endParaRPr lang="en-US" sz="4200" dirty="0"/>
          </a:p>
        </p:txBody>
      </p:sp>
      <p:sp>
        <p:nvSpPr>
          <p:cNvPr id="4" name="Shape 2"/>
          <p:cNvSpPr/>
          <p:nvPr/>
        </p:nvSpPr>
        <p:spPr>
          <a:xfrm>
            <a:off x="1047694" y="2206144"/>
            <a:ext cx="16192529" cy="2408683"/>
          </a:xfrm>
          <a:prstGeom prst="roundRect">
            <a:avLst>
              <a:gd name="adj" fmla="val 3164"/>
            </a:avLst>
          </a:prstGeom>
          <a:solidFill>
            <a:srgbClr val="FF6B00">
              <a:alpha val="10000"/>
            </a:srgbClr>
          </a:solidFill>
          <a:ln w="8204">
            <a:solidFill>
              <a:srgbClr val="FF6B00"/>
            </a:solidFill>
            <a:prstDash val="solid"/>
          </a:ln>
        </p:spPr>
        <p:txBody>
          <a:bodyPr/>
          <a:lstStyle/>
          <a:p>
            <a:endParaRPr lang="en-US"/>
          </a:p>
        </p:txBody>
      </p:sp>
      <p:sp>
        <p:nvSpPr>
          <p:cNvPr id="5" name="Text 3"/>
          <p:cNvSpPr/>
          <p:nvPr/>
        </p:nvSpPr>
        <p:spPr>
          <a:xfrm>
            <a:off x="1398677" y="2500082"/>
            <a:ext cx="5369607" cy="317041"/>
          </a:xfrm>
          <a:prstGeom prst="rect">
            <a:avLst/>
          </a:prstGeom>
          <a:noFill/>
          <a:ln/>
        </p:spPr>
        <p:txBody>
          <a:bodyPr wrap="square" lIns="25400" tIns="25400" rIns="25400" bIns="25400" rtlCol="0" anchor="ctr">
            <a:normAutofit lnSpcReduction="10000"/>
          </a:bodyPr>
          <a:lstStyle/>
          <a:p>
            <a:pPr marL="0" indent="0" algn="l">
              <a:buNone/>
            </a:pPr>
            <a:r>
              <a:rPr lang="en-US" sz="1800" b="1" kern="0" spc="108" dirty="0">
                <a:solidFill>
                  <a:srgbClr val="FF6B00"/>
                </a:solidFill>
                <a:latin typeface="Inter" pitchFamily="34" charset="0"/>
                <a:ea typeface="Inter" pitchFamily="34" charset="-122"/>
                <a:cs typeface="Inter" pitchFamily="34" charset="-120"/>
              </a:rPr>
              <a:t>TIER 1 · PRIMARY PRODUCT</a:t>
            </a:r>
            <a:endParaRPr lang="en-US" sz="1800" dirty="0"/>
          </a:p>
        </p:txBody>
      </p:sp>
      <p:sp>
        <p:nvSpPr>
          <p:cNvPr id="6" name="Text 4"/>
          <p:cNvSpPr/>
          <p:nvPr/>
        </p:nvSpPr>
        <p:spPr>
          <a:xfrm>
            <a:off x="1398677" y="2855168"/>
            <a:ext cx="5369607" cy="456511"/>
          </a:xfrm>
          <a:prstGeom prst="rect">
            <a:avLst/>
          </a:prstGeom>
          <a:noFill/>
          <a:ln/>
        </p:spPr>
        <p:txBody>
          <a:bodyPr wrap="square" lIns="25400" tIns="25400" rIns="25400" bIns="25400" rtlCol="0" anchor="t">
            <a:normAutofit/>
          </a:bodyPr>
          <a:lstStyle/>
          <a:p>
            <a:pPr marL="0" indent="0" algn="l">
              <a:buNone/>
            </a:pPr>
            <a:r>
              <a:rPr lang="en-US" sz="2550" b="1" dirty="0">
                <a:solidFill>
                  <a:srgbClr val="F0F6FC"/>
                </a:solidFill>
                <a:latin typeface="Space Grotesk" pitchFamily="34" charset="0"/>
                <a:ea typeface="Space Grotesk" pitchFamily="34" charset="-122"/>
                <a:cs typeface="Space Grotesk" pitchFamily="34" charset="-120"/>
              </a:rPr>
              <a:t>Agent Context Layer</a:t>
            </a:r>
            <a:endParaRPr lang="en-US" sz="2550" dirty="0"/>
          </a:p>
        </p:txBody>
      </p:sp>
      <p:sp>
        <p:nvSpPr>
          <p:cNvPr id="7" name="Shape 5"/>
          <p:cNvSpPr/>
          <p:nvPr/>
        </p:nvSpPr>
        <p:spPr>
          <a:xfrm>
            <a:off x="1398677" y="3425868"/>
            <a:ext cx="1042182"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8" name="Text 6"/>
          <p:cNvSpPr/>
          <p:nvPr/>
        </p:nvSpPr>
        <p:spPr>
          <a:xfrm>
            <a:off x="1540231" y="3491222"/>
            <a:ext cx="835273"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Claude</a:t>
            </a:r>
            <a:endParaRPr lang="en-US" sz="1800" dirty="0"/>
          </a:p>
        </p:txBody>
      </p:sp>
      <p:sp>
        <p:nvSpPr>
          <p:cNvPr id="9" name="Shape 7"/>
          <p:cNvSpPr/>
          <p:nvPr/>
        </p:nvSpPr>
        <p:spPr>
          <a:xfrm>
            <a:off x="2517003" y="3425868"/>
            <a:ext cx="1252413"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10" name="Text 8"/>
          <p:cNvSpPr/>
          <p:nvPr/>
        </p:nvSpPr>
        <p:spPr>
          <a:xfrm>
            <a:off x="2658557" y="3491222"/>
            <a:ext cx="1045504"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ChatGPT</a:t>
            </a:r>
            <a:endParaRPr lang="en-US" sz="1800" dirty="0"/>
          </a:p>
        </p:txBody>
      </p:sp>
      <p:sp>
        <p:nvSpPr>
          <p:cNvPr id="11" name="Shape 9"/>
          <p:cNvSpPr/>
          <p:nvPr/>
        </p:nvSpPr>
        <p:spPr>
          <a:xfrm>
            <a:off x="3845561" y="3425868"/>
            <a:ext cx="1887977"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12" name="Text 10"/>
          <p:cNvSpPr/>
          <p:nvPr/>
        </p:nvSpPr>
        <p:spPr>
          <a:xfrm>
            <a:off x="3987115" y="3491222"/>
            <a:ext cx="1681069"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Internal agents</a:t>
            </a:r>
            <a:endParaRPr lang="en-US" sz="1800" dirty="0"/>
          </a:p>
        </p:txBody>
      </p:sp>
      <p:sp>
        <p:nvSpPr>
          <p:cNvPr id="13" name="Shape 11"/>
          <p:cNvSpPr/>
          <p:nvPr/>
        </p:nvSpPr>
        <p:spPr>
          <a:xfrm>
            <a:off x="1398677" y="3911450"/>
            <a:ext cx="2180121"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14" name="Text 12"/>
          <p:cNvSpPr/>
          <p:nvPr/>
        </p:nvSpPr>
        <p:spPr>
          <a:xfrm>
            <a:off x="1540231" y="3976804"/>
            <a:ext cx="1973213"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Developer agents</a:t>
            </a:r>
            <a:endParaRPr lang="en-US" sz="1800" dirty="0"/>
          </a:p>
        </p:txBody>
      </p:sp>
      <p:sp>
        <p:nvSpPr>
          <p:cNvPr id="15" name="Shape 13"/>
          <p:cNvSpPr/>
          <p:nvPr/>
        </p:nvSpPr>
        <p:spPr>
          <a:xfrm>
            <a:off x="6699190" y="2845169"/>
            <a:ext cx="9525" cy="1130633"/>
          </a:xfrm>
          <a:prstGeom prst="rect">
            <a:avLst/>
          </a:prstGeom>
          <a:solidFill>
            <a:srgbClr val="FF6B00"/>
          </a:solidFill>
          <a:ln/>
        </p:spPr>
        <p:txBody>
          <a:bodyPr/>
          <a:lstStyle/>
          <a:p>
            <a:endParaRPr lang="en-US"/>
          </a:p>
        </p:txBody>
      </p:sp>
      <p:sp>
        <p:nvSpPr>
          <p:cNvPr id="16" name="Text 14"/>
          <p:cNvSpPr/>
          <p:nvPr/>
        </p:nvSpPr>
        <p:spPr>
          <a:xfrm>
            <a:off x="7126446" y="2845169"/>
            <a:ext cx="1073907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Before acting, agents receive</a:t>
            </a:r>
            <a:endParaRPr lang="en-US" sz="1800" dirty="0"/>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6446" y="3258580"/>
            <a:ext cx="228562" cy="228562"/>
          </a:xfrm>
          <a:prstGeom prst="rect">
            <a:avLst/>
          </a:prstGeom>
        </p:spPr>
      </p:pic>
      <p:sp>
        <p:nvSpPr>
          <p:cNvPr id="18" name="Text 15"/>
          <p:cNvSpPr/>
          <p:nvPr/>
        </p:nvSpPr>
        <p:spPr>
          <a:xfrm>
            <a:off x="7450253" y="3257427"/>
            <a:ext cx="1703183"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Past decisions</a:t>
            </a:r>
            <a:endParaRPr lang="en-US" sz="1875"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62970" y="3258580"/>
            <a:ext cx="228562" cy="228562"/>
          </a:xfrm>
          <a:prstGeom prst="rect">
            <a:avLst/>
          </a:prstGeom>
        </p:spPr>
      </p:pic>
      <p:sp>
        <p:nvSpPr>
          <p:cNvPr id="20" name="Text 16"/>
          <p:cNvSpPr/>
          <p:nvPr/>
        </p:nvSpPr>
        <p:spPr>
          <a:xfrm>
            <a:off x="9686777" y="3257427"/>
            <a:ext cx="1292207"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Ownership</a:t>
            </a:r>
            <a:endParaRPr lang="en-US" sz="1875"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88519" y="3258580"/>
            <a:ext cx="228562" cy="228562"/>
          </a:xfrm>
          <a:prstGeom prst="rect">
            <a:avLst/>
          </a:prstGeom>
        </p:spPr>
      </p:pic>
      <p:sp>
        <p:nvSpPr>
          <p:cNvPr id="22" name="Text 17"/>
          <p:cNvSpPr/>
          <p:nvPr/>
        </p:nvSpPr>
        <p:spPr>
          <a:xfrm>
            <a:off x="11512326" y="3257427"/>
            <a:ext cx="882000"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History</a:t>
            </a:r>
            <a:endParaRPr lang="en-US" sz="1875"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603861" y="3258580"/>
            <a:ext cx="228562" cy="228562"/>
          </a:xfrm>
          <a:prstGeom prst="rect">
            <a:avLst/>
          </a:prstGeom>
        </p:spPr>
      </p:pic>
      <p:sp>
        <p:nvSpPr>
          <p:cNvPr id="24" name="Text 18"/>
          <p:cNvSpPr/>
          <p:nvPr/>
        </p:nvSpPr>
        <p:spPr>
          <a:xfrm>
            <a:off x="12927668" y="3257427"/>
            <a:ext cx="1360019"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Constraints</a:t>
            </a:r>
            <a:endParaRPr lang="en-US" sz="1875"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497221" y="3258580"/>
            <a:ext cx="228562" cy="228562"/>
          </a:xfrm>
          <a:prstGeom prst="rect">
            <a:avLst/>
          </a:prstGeom>
        </p:spPr>
      </p:pic>
      <p:sp>
        <p:nvSpPr>
          <p:cNvPr id="26" name="Text 19"/>
          <p:cNvSpPr/>
          <p:nvPr/>
        </p:nvSpPr>
        <p:spPr>
          <a:xfrm>
            <a:off x="14821028" y="3257427"/>
            <a:ext cx="1634858"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Commitments</a:t>
            </a:r>
            <a:endParaRPr lang="en-US" sz="1875" dirty="0"/>
          </a:p>
        </p:txBody>
      </p:sp>
      <p:sp>
        <p:nvSpPr>
          <p:cNvPr id="27" name="Text 20"/>
          <p:cNvSpPr/>
          <p:nvPr/>
        </p:nvSpPr>
        <p:spPr>
          <a:xfrm>
            <a:off x="7126446" y="3696861"/>
            <a:ext cx="1073907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Not a document dump — </a:t>
            </a:r>
            <a:r>
              <a:rPr lang="en-US" sz="1800" b="1" dirty="0">
                <a:solidFill>
                  <a:srgbClr val="F0F6FC"/>
                </a:solidFill>
                <a:latin typeface="Inter" pitchFamily="34" charset="0"/>
                <a:ea typeface="Inter" pitchFamily="34" charset="-122"/>
                <a:cs typeface="Inter" pitchFamily="34" charset="-120"/>
              </a:rPr>
              <a:t>a working memory of the company.</a:t>
            </a:r>
            <a:endParaRPr lang="en-US" sz="1800" dirty="0"/>
          </a:p>
        </p:txBody>
      </p:sp>
      <p:sp>
        <p:nvSpPr>
          <p:cNvPr id="28" name="Shape 21"/>
          <p:cNvSpPr/>
          <p:nvPr/>
        </p:nvSpPr>
        <p:spPr>
          <a:xfrm>
            <a:off x="1047694" y="4805316"/>
            <a:ext cx="16192529" cy="1428545"/>
          </a:xfrm>
          <a:prstGeom prst="roundRect">
            <a:avLst>
              <a:gd name="adj" fmla="val 5334"/>
            </a:avLst>
          </a:prstGeom>
          <a:solidFill>
            <a:srgbClr val="1A2B3C"/>
          </a:solidFill>
          <a:ln w="8204">
            <a:solidFill>
              <a:srgbClr val="30363D"/>
            </a:solidFill>
            <a:prstDash val="solid"/>
          </a:ln>
        </p:spPr>
        <p:txBody>
          <a:bodyPr/>
          <a:lstStyle/>
          <a:p>
            <a:endParaRPr lang="en-US"/>
          </a:p>
        </p:txBody>
      </p:sp>
      <p:sp>
        <p:nvSpPr>
          <p:cNvPr id="29" name="Text 22"/>
          <p:cNvSpPr/>
          <p:nvPr/>
        </p:nvSpPr>
        <p:spPr>
          <a:xfrm>
            <a:off x="1398677" y="5161555"/>
            <a:ext cx="5526268" cy="317041"/>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8B949E"/>
                </a:solidFill>
                <a:latin typeface="Inter" pitchFamily="34" charset="0"/>
                <a:ea typeface="Inter" pitchFamily="34" charset="-122"/>
                <a:cs typeface="Inter" pitchFamily="34" charset="-120"/>
              </a:rPr>
              <a:t>TIER 2</a:t>
            </a:r>
            <a:endParaRPr lang="en-US" sz="1800" dirty="0"/>
          </a:p>
        </p:txBody>
      </p:sp>
      <p:sp>
        <p:nvSpPr>
          <p:cNvPr id="30" name="Text 23"/>
          <p:cNvSpPr/>
          <p:nvPr/>
        </p:nvSpPr>
        <p:spPr>
          <a:xfrm>
            <a:off x="1398677" y="5516641"/>
            <a:ext cx="5526268" cy="399082"/>
          </a:xfrm>
          <a:prstGeom prst="rect">
            <a:avLst/>
          </a:prstGeom>
          <a:noFill/>
          <a:ln/>
        </p:spPr>
        <p:txBody>
          <a:bodyPr wrap="square" lIns="25400" tIns="25400" rIns="25400" bIns="25400" rtlCol="0" anchor="t">
            <a:normAutofit/>
          </a:bodyPr>
          <a:lstStyle/>
          <a:p>
            <a:pPr marL="0" indent="0" algn="l">
              <a:buNone/>
            </a:pPr>
            <a:r>
              <a:rPr lang="en-US" sz="2250" b="1" dirty="0">
                <a:solidFill>
                  <a:srgbClr val="F0F6FC"/>
                </a:solidFill>
                <a:latin typeface="Space Grotesk" pitchFamily="34" charset="0"/>
                <a:ea typeface="Space Grotesk" pitchFamily="34" charset="-122"/>
                <a:cs typeface="Space Grotesk" pitchFamily="34" charset="-120"/>
              </a:rPr>
              <a:t>Existing Tool Layer</a:t>
            </a:r>
            <a:endParaRPr lang="en-US" sz="2250" dirty="0"/>
          </a:p>
        </p:txBody>
      </p:sp>
      <p:sp>
        <p:nvSpPr>
          <p:cNvPr id="31" name="Shape 24"/>
          <p:cNvSpPr/>
          <p:nvPr/>
        </p:nvSpPr>
        <p:spPr>
          <a:xfrm>
            <a:off x="6841609" y="5061054"/>
            <a:ext cx="945655"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2" name="Text 25"/>
          <p:cNvSpPr/>
          <p:nvPr/>
        </p:nvSpPr>
        <p:spPr>
          <a:xfrm>
            <a:off x="7021263" y="5145459"/>
            <a:ext cx="662547"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Slack</a:t>
            </a:r>
            <a:endParaRPr lang="en-US" sz="1800" dirty="0"/>
          </a:p>
        </p:txBody>
      </p:sp>
      <p:sp>
        <p:nvSpPr>
          <p:cNvPr id="33" name="Shape 26"/>
          <p:cNvSpPr/>
          <p:nvPr/>
        </p:nvSpPr>
        <p:spPr>
          <a:xfrm>
            <a:off x="7977753" y="5061054"/>
            <a:ext cx="969114"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4" name="Text 27"/>
          <p:cNvSpPr/>
          <p:nvPr/>
        </p:nvSpPr>
        <p:spPr>
          <a:xfrm>
            <a:off x="8157407" y="5145459"/>
            <a:ext cx="686005"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Gmail</a:t>
            </a:r>
            <a:endParaRPr lang="en-US" sz="1800" dirty="0"/>
          </a:p>
        </p:txBody>
      </p:sp>
      <p:sp>
        <p:nvSpPr>
          <p:cNvPr id="35" name="Shape 28"/>
          <p:cNvSpPr/>
          <p:nvPr/>
        </p:nvSpPr>
        <p:spPr>
          <a:xfrm>
            <a:off x="9137357" y="5061054"/>
            <a:ext cx="879765"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6" name="Text 29"/>
          <p:cNvSpPr/>
          <p:nvPr/>
        </p:nvSpPr>
        <p:spPr>
          <a:xfrm>
            <a:off x="9317011" y="5145459"/>
            <a:ext cx="596657"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CRM</a:t>
            </a:r>
            <a:endParaRPr lang="en-US" sz="1800" dirty="0"/>
          </a:p>
        </p:txBody>
      </p:sp>
      <p:sp>
        <p:nvSpPr>
          <p:cNvPr id="37" name="Shape 30"/>
          <p:cNvSpPr/>
          <p:nvPr/>
        </p:nvSpPr>
        <p:spPr>
          <a:xfrm>
            <a:off x="10207612" y="5061054"/>
            <a:ext cx="2130512"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8" name="Text 31"/>
          <p:cNvSpPr/>
          <p:nvPr/>
        </p:nvSpPr>
        <p:spPr>
          <a:xfrm>
            <a:off x="10387266" y="5145459"/>
            <a:ext cx="1847403"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Internal systems</a:t>
            </a:r>
            <a:endParaRPr lang="en-US" sz="1800" dirty="0"/>
          </a:p>
        </p:txBody>
      </p:sp>
      <p:sp>
        <p:nvSpPr>
          <p:cNvPr id="39" name="Text 32"/>
          <p:cNvSpPr/>
          <p:nvPr/>
        </p:nvSpPr>
        <p:spPr>
          <a:xfrm>
            <a:off x="6898653" y="5699183"/>
            <a:ext cx="7066927"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The right knowledge appears where work already happens.</a:t>
            </a:r>
            <a:endParaRPr lang="en-US" sz="1800" dirty="0"/>
          </a:p>
        </p:txBody>
      </p:sp>
      <p:sp>
        <p:nvSpPr>
          <p:cNvPr id="40" name="Shape 33"/>
          <p:cNvSpPr/>
          <p:nvPr/>
        </p:nvSpPr>
        <p:spPr>
          <a:xfrm>
            <a:off x="1047694" y="6424351"/>
            <a:ext cx="16192529" cy="1872210"/>
          </a:xfrm>
          <a:prstGeom prst="roundRect">
            <a:avLst>
              <a:gd name="adj" fmla="val 4070"/>
            </a:avLst>
          </a:prstGeom>
          <a:solidFill>
            <a:srgbClr val="161B22"/>
          </a:solidFill>
          <a:ln w="8204">
            <a:solidFill>
              <a:srgbClr val="30363D"/>
            </a:solidFill>
            <a:prstDash val="solid"/>
          </a:ln>
        </p:spPr>
        <p:txBody>
          <a:bodyPr/>
          <a:lstStyle/>
          <a:p>
            <a:endParaRPr lang="en-US"/>
          </a:p>
        </p:txBody>
      </p:sp>
      <p:sp>
        <p:nvSpPr>
          <p:cNvPr id="41" name="Text 34"/>
          <p:cNvSpPr/>
          <p:nvPr/>
        </p:nvSpPr>
        <p:spPr>
          <a:xfrm>
            <a:off x="1398677" y="7024279"/>
            <a:ext cx="5369607" cy="317041"/>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484F58"/>
                </a:solidFill>
                <a:latin typeface="Inter" pitchFamily="34" charset="0"/>
                <a:ea typeface="Inter" pitchFamily="34" charset="-122"/>
                <a:cs typeface="Inter" pitchFamily="34" charset="-120"/>
              </a:rPr>
              <a:t>TIER 3 · LOWEST PRIORITY</a:t>
            </a:r>
            <a:endParaRPr lang="en-US" sz="1800" dirty="0"/>
          </a:p>
        </p:txBody>
      </p:sp>
      <p:sp>
        <p:nvSpPr>
          <p:cNvPr id="42" name="Text 35"/>
          <p:cNvSpPr/>
          <p:nvPr/>
        </p:nvSpPr>
        <p:spPr>
          <a:xfrm>
            <a:off x="1398677" y="7360264"/>
            <a:ext cx="5369607" cy="374470"/>
          </a:xfrm>
          <a:prstGeom prst="rect">
            <a:avLst/>
          </a:prstGeom>
          <a:noFill/>
          <a:ln/>
        </p:spPr>
        <p:txBody>
          <a:bodyPr wrap="square" lIns="25400" tIns="25400" rIns="25400" bIns="25400" rtlCol="0" anchor="t">
            <a:normAutofit/>
          </a:bodyPr>
          <a:lstStyle/>
          <a:p>
            <a:pPr marL="0" indent="0" algn="l">
              <a:buNone/>
            </a:pPr>
            <a:r>
              <a:rPr lang="en-US" sz="2100" b="1" dirty="0">
                <a:solidFill>
                  <a:srgbClr val="8B949E"/>
                </a:solidFill>
                <a:latin typeface="Space Grotesk" pitchFamily="34" charset="0"/>
                <a:ea typeface="Space Grotesk" pitchFamily="34" charset="-122"/>
                <a:cs typeface="Space Grotesk" pitchFamily="34" charset="-120"/>
              </a:rPr>
              <a:t>Company Brain Platform</a:t>
            </a:r>
            <a:endParaRPr lang="en-US" sz="2100" dirty="0"/>
          </a:p>
        </p:txBody>
      </p:sp>
      <p:sp>
        <p:nvSpPr>
          <p:cNvPr id="43" name="Shape 36"/>
          <p:cNvSpPr/>
          <p:nvPr/>
        </p:nvSpPr>
        <p:spPr>
          <a:xfrm>
            <a:off x="6699190" y="6661118"/>
            <a:ext cx="9525" cy="1398677"/>
          </a:xfrm>
          <a:prstGeom prst="rect">
            <a:avLst/>
          </a:prstGeom>
          <a:solidFill>
            <a:srgbClr val="30363D"/>
          </a:solidFill>
          <a:ln/>
        </p:spPr>
        <p:txBody>
          <a:bodyPr/>
          <a:lstStyle/>
          <a:p>
            <a:endParaRPr lang="en-US"/>
          </a:p>
        </p:txBody>
      </p:sp>
      <p:sp>
        <p:nvSpPr>
          <p:cNvPr id="44" name="Text 37"/>
          <p:cNvSpPr/>
          <p:nvPr/>
        </p:nvSpPr>
        <p:spPr>
          <a:xfrm>
            <a:off x="7126446" y="6661118"/>
            <a:ext cx="1073907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Includes an </a:t>
            </a:r>
            <a:r>
              <a:rPr lang="en-US" sz="1800" b="1" dirty="0">
                <a:solidFill>
                  <a:srgbClr val="8B949E"/>
                </a:solidFill>
                <a:latin typeface="Inter" pitchFamily="34" charset="0"/>
                <a:ea typeface="Inter" pitchFamily="34" charset="-122"/>
                <a:cs typeface="Inter" pitchFamily="34" charset="-120"/>
              </a:rPr>
              <a:t>AI Consultant</a:t>
            </a:r>
            <a:endParaRPr lang="en-US" sz="1800" dirty="0"/>
          </a:p>
        </p:txBody>
      </p:sp>
      <p:sp>
        <p:nvSpPr>
          <p:cNvPr id="45" name="Shape 38"/>
          <p:cNvSpPr/>
          <p:nvPr/>
        </p:nvSpPr>
        <p:spPr>
          <a:xfrm>
            <a:off x="7126446" y="7016203"/>
            <a:ext cx="1764915" cy="390466"/>
          </a:xfrm>
          <a:prstGeom prst="roundRect">
            <a:avLst>
              <a:gd name="adj" fmla="val 14636"/>
            </a:avLst>
          </a:prstGeom>
          <a:ln w="8204">
            <a:solidFill>
              <a:srgbClr val="30363D"/>
            </a:solidFill>
            <a:prstDash val="solid"/>
          </a:ln>
        </p:spPr>
        <p:txBody>
          <a:bodyPr/>
          <a:lstStyle/>
          <a:p>
            <a:endParaRPr lang="en-US"/>
          </a:p>
        </p:txBody>
      </p:sp>
      <p:sp>
        <p:nvSpPr>
          <p:cNvPr id="46" name="Text 39"/>
          <p:cNvSpPr/>
          <p:nvPr/>
        </p:nvSpPr>
        <p:spPr>
          <a:xfrm>
            <a:off x="7248950" y="7072032"/>
            <a:ext cx="1596107"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Ask questions</a:t>
            </a:r>
            <a:endParaRPr lang="en-US" sz="1800" dirty="0"/>
          </a:p>
        </p:txBody>
      </p:sp>
      <p:sp>
        <p:nvSpPr>
          <p:cNvPr id="47" name="Shape 40"/>
          <p:cNvSpPr/>
          <p:nvPr/>
        </p:nvSpPr>
        <p:spPr>
          <a:xfrm>
            <a:off x="8967506" y="7016203"/>
            <a:ext cx="2208451" cy="390466"/>
          </a:xfrm>
          <a:prstGeom prst="roundRect">
            <a:avLst>
              <a:gd name="adj" fmla="val 14636"/>
            </a:avLst>
          </a:prstGeom>
          <a:ln w="8204">
            <a:solidFill>
              <a:srgbClr val="30363D"/>
            </a:solidFill>
            <a:prstDash val="solid"/>
          </a:ln>
        </p:spPr>
        <p:txBody>
          <a:bodyPr/>
          <a:lstStyle/>
          <a:p>
            <a:endParaRPr lang="en-US"/>
          </a:p>
        </p:txBody>
      </p:sp>
      <p:sp>
        <p:nvSpPr>
          <p:cNvPr id="48" name="Text 41"/>
          <p:cNvSpPr/>
          <p:nvPr/>
        </p:nvSpPr>
        <p:spPr>
          <a:xfrm>
            <a:off x="9090010" y="7072032"/>
            <a:ext cx="2039643"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Analyze situations</a:t>
            </a:r>
            <a:endParaRPr lang="en-US" sz="1800" dirty="0"/>
          </a:p>
        </p:txBody>
      </p:sp>
      <p:sp>
        <p:nvSpPr>
          <p:cNvPr id="49" name="Shape 42"/>
          <p:cNvSpPr/>
          <p:nvPr/>
        </p:nvSpPr>
        <p:spPr>
          <a:xfrm>
            <a:off x="11252102" y="7016203"/>
            <a:ext cx="2109617" cy="390466"/>
          </a:xfrm>
          <a:prstGeom prst="roundRect">
            <a:avLst>
              <a:gd name="adj" fmla="val 14636"/>
            </a:avLst>
          </a:prstGeom>
          <a:ln w="8204">
            <a:solidFill>
              <a:srgbClr val="30363D"/>
            </a:solidFill>
            <a:prstDash val="solid"/>
          </a:ln>
        </p:spPr>
        <p:txBody>
          <a:bodyPr/>
          <a:lstStyle/>
          <a:p>
            <a:endParaRPr lang="en-US"/>
          </a:p>
        </p:txBody>
      </p:sp>
      <p:sp>
        <p:nvSpPr>
          <p:cNvPr id="50" name="Text 43"/>
          <p:cNvSpPr/>
          <p:nvPr/>
        </p:nvSpPr>
        <p:spPr>
          <a:xfrm>
            <a:off x="11374606" y="7072032"/>
            <a:ext cx="1940808"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Review decisions</a:t>
            </a:r>
            <a:endParaRPr lang="en-US" sz="1800" dirty="0"/>
          </a:p>
        </p:txBody>
      </p:sp>
      <p:sp>
        <p:nvSpPr>
          <p:cNvPr id="51" name="Shape 44"/>
          <p:cNvSpPr/>
          <p:nvPr/>
        </p:nvSpPr>
        <p:spPr>
          <a:xfrm>
            <a:off x="13437862" y="7016203"/>
            <a:ext cx="2237934" cy="390466"/>
          </a:xfrm>
          <a:prstGeom prst="roundRect">
            <a:avLst>
              <a:gd name="adj" fmla="val 14636"/>
            </a:avLst>
          </a:prstGeom>
          <a:ln w="8204">
            <a:solidFill>
              <a:srgbClr val="30363D"/>
            </a:solidFill>
            <a:prstDash val="solid"/>
          </a:ln>
        </p:spPr>
        <p:txBody>
          <a:bodyPr/>
          <a:lstStyle/>
          <a:p>
            <a:endParaRPr lang="en-US"/>
          </a:p>
        </p:txBody>
      </p:sp>
      <p:sp>
        <p:nvSpPr>
          <p:cNvPr id="52" name="Text 45"/>
          <p:cNvSpPr/>
          <p:nvPr/>
        </p:nvSpPr>
        <p:spPr>
          <a:xfrm>
            <a:off x="13560366" y="7072032"/>
            <a:ext cx="2069126"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Understand reality</a:t>
            </a:r>
            <a:endParaRPr lang="en-US" sz="1800" dirty="0"/>
          </a:p>
        </p:txBody>
      </p:sp>
      <p:sp>
        <p:nvSpPr>
          <p:cNvPr id="53" name="Text 46"/>
          <p:cNvSpPr/>
          <p:nvPr/>
        </p:nvSpPr>
        <p:spPr>
          <a:xfrm>
            <a:off x="7126446" y="7501914"/>
            <a:ext cx="10055677" cy="59598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The Brain matters most when it </a:t>
            </a:r>
            <a:r>
              <a:rPr lang="en-US" sz="1800" b="1" dirty="0">
                <a:solidFill>
                  <a:srgbClr val="F0F6FC"/>
                </a:solidFill>
                <a:latin typeface="Inter" pitchFamily="34" charset="0"/>
                <a:ea typeface="Inter" pitchFamily="34" charset="-122"/>
                <a:cs typeface="Inter" pitchFamily="34" charset="-120"/>
              </a:rPr>
              <a:t>powers work </a:t>
            </a:r>
            <a:r>
              <a:rPr lang="en-US" sz="1800" dirty="0">
                <a:solidFill>
                  <a:srgbClr val="484F58"/>
                </a:solidFill>
                <a:latin typeface="Inter" pitchFamily="34" charset="0"/>
                <a:ea typeface="Inter" pitchFamily="34" charset="-122"/>
                <a:cs typeface="Inter" pitchFamily="34" charset="-120"/>
              </a:rPr>
              <a:t>— not when people manage another dashboard.</a:t>
            </a:r>
            <a:endParaRPr lang="en-US" sz="1800" dirty="0"/>
          </a:p>
        </p:txBody>
      </p:sp>
      <p:pic>
        <p:nvPicPr>
          <p:cNvPr id="54" name="Picture 53">
            <a:extLst>
              <a:ext uri="{FF2B5EF4-FFF2-40B4-BE49-F238E27FC236}">
                <a16:creationId xmlns:a16="http://schemas.microsoft.com/office/drawing/2014/main" id="{886DAD07-4C00-0EB3-B4D1-8FA0B3340B69}"/>
              </a:ext>
            </a:extLst>
          </p:cNvPr>
          <p:cNvPicPr>
            <a:picLocks noChangeAspect="1"/>
          </p:cNvPicPr>
          <p:nvPr/>
        </p:nvPicPr>
        <p:blipFill>
          <a:blip r:embed="rId8"/>
          <a:stretch>
            <a:fillRect/>
          </a:stretch>
        </p:blipFill>
        <p:spPr>
          <a:xfrm>
            <a:off x="15314892" y="565831"/>
            <a:ext cx="2293110" cy="12887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HOW IT WOULD LOOK</a:t>
            </a:r>
            <a:endParaRPr lang="en-US" sz="1800" dirty="0"/>
          </a:p>
        </p:txBody>
      </p:sp>
      <p:sp>
        <p:nvSpPr>
          <p:cNvPr id="3" name="Text 1"/>
          <p:cNvSpPr/>
          <p:nvPr/>
        </p:nvSpPr>
        <p:spPr>
          <a:xfrm>
            <a:off x="1047694" y="1334839"/>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The same request, two worlds.</a:t>
            </a:r>
            <a:endParaRPr lang="en-US" sz="5250" dirty="0"/>
          </a:p>
        </p:txBody>
      </p:sp>
      <p:sp>
        <p:nvSpPr>
          <p:cNvPr id="4" name="Shape 2"/>
          <p:cNvSpPr/>
          <p:nvPr/>
        </p:nvSpPr>
        <p:spPr>
          <a:xfrm>
            <a:off x="1047694" y="2588021"/>
            <a:ext cx="8086715" cy="5927488"/>
          </a:xfrm>
          <a:prstGeom prst="roundRect">
            <a:avLst>
              <a:gd name="adj" fmla="val 1286"/>
            </a:avLst>
          </a:prstGeom>
          <a:solidFill>
            <a:srgbClr val="161B22"/>
          </a:solidFill>
          <a:ln w="8204">
            <a:solidFill>
              <a:srgbClr val="30363D"/>
            </a:solidFill>
            <a:prstDash val="solid"/>
          </a:ln>
        </p:spPr>
        <p:txBody>
          <a:bodyPr/>
          <a:lstStyle/>
          <a:p>
            <a:endParaRPr lang="en-US"/>
          </a:p>
        </p:txBody>
      </p:sp>
      <p:sp>
        <p:nvSpPr>
          <p:cNvPr id="5" name="Text 3"/>
          <p:cNvSpPr/>
          <p:nvPr/>
        </p:nvSpPr>
        <p:spPr>
          <a:xfrm>
            <a:off x="1474950" y="3015276"/>
            <a:ext cx="7955422" cy="317041"/>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484F58"/>
                </a:solidFill>
                <a:latin typeface="Inter" pitchFamily="34" charset="0"/>
                <a:ea typeface="Inter" pitchFamily="34" charset="-122"/>
                <a:cs typeface="Inter" pitchFamily="34" charset="-120"/>
              </a:rPr>
              <a:t>TODAY</a:t>
            </a:r>
            <a:endParaRPr lang="en-US" sz="1800" dirty="0"/>
          </a:p>
        </p:txBody>
      </p:sp>
      <p:sp>
        <p:nvSpPr>
          <p:cNvPr id="6" name="Shape 4"/>
          <p:cNvSpPr/>
          <p:nvPr/>
        </p:nvSpPr>
        <p:spPr>
          <a:xfrm>
            <a:off x="1474950" y="3541751"/>
            <a:ext cx="7232202" cy="1413932"/>
          </a:xfrm>
          <a:prstGeom prst="roundRect">
            <a:avLst>
              <a:gd name="adj" fmla="val 5389"/>
            </a:avLst>
          </a:prstGeom>
          <a:solidFill>
            <a:srgbClr val="0D1117"/>
          </a:solidFill>
          <a:ln w="8204">
            <a:solidFill>
              <a:srgbClr val="30363D"/>
            </a:solidFill>
            <a:prstDash val="solid"/>
          </a:ln>
        </p:spPr>
        <p:txBody>
          <a:bodyPr/>
          <a:lstStyle/>
          <a:p>
            <a:endParaRPr lang="en-US"/>
          </a:p>
        </p:txBody>
      </p:sp>
      <p:sp>
        <p:nvSpPr>
          <p:cNvPr id="7" name="Text 5"/>
          <p:cNvSpPr/>
          <p:nvPr/>
        </p:nvSpPr>
        <p:spPr>
          <a:xfrm>
            <a:off x="1730688" y="3759417"/>
            <a:ext cx="7392798"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AI Agent</a:t>
            </a:r>
            <a:endParaRPr lang="en-US" sz="1800" dirty="0"/>
          </a:p>
        </p:txBody>
      </p:sp>
      <p:sp>
        <p:nvSpPr>
          <p:cNvPr id="8" name="Text 6"/>
          <p:cNvSpPr/>
          <p:nvPr/>
        </p:nvSpPr>
        <p:spPr>
          <a:xfrm>
            <a:off x="1730688" y="4114503"/>
            <a:ext cx="5333303" cy="661614"/>
          </a:xfrm>
          <a:prstGeom prst="rect">
            <a:avLst/>
          </a:prstGeom>
          <a:noFill/>
          <a:ln/>
        </p:spPr>
        <p:txBody>
          <a:bodyPr wrap="square" lIns="0" tIns="0" rIns="0" bIns="0" rtlCol="0" anchor="t">
            <a:normAutofit/>
          </a:bodyPr>
          <a:lstStyle/>
          <a:p>
            <a:pPr marL="0" indent="0" algn="l">
              <a:buNone/>
            </a:pPr>
            <a:r>
              <a:rPr lang="en-US" sz="2025" dirty="0">
                <a:solidFill>
                  <a:srgbClr val="8B949E"/>
                </a:solidFill>
                <a:latin typeface="Inter" pitchFamily="34" charset="0"/>
                <a:ea typeface="Inter" pitchFamily="34" charset="-122"/>
                <a:cs typeface="Inter" pitchFamily="34" charset="-120"/>
              </a:rPr>
              <a:t>"Please upload documents and explain the background."</a:t>
            </a:r>
            <a:endParaRPr lang="en-US" sz="2025"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4950" y="5165145"/>
            <a:ext cx="380980" cy="380980"/>
          </a:xfrm>
          <a:prstGeom prst="rect">
            <a:avLst/>
          </a:prstGeom>
        </p:spPr>
      </p:pic>
      <p:sp>
        <p:nvSpPr>
          <p:cNvPr id="10" name="Text 7"/>
          <p:cNvSpPr/>
          <p:nvPr/>
        </p:nvSpPr>
        <p:spPr>
          <a:xfrm>
            <a:off x="2027319" y="5216164"/>
            <a:ext cx="5044159"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484F58"/>
                </a:solidFill>
                <a:latin typeface="Inter" pitchFamily="34" charset="0"/>
                <a:ea typeface="Inter" pitchFamily="34" charset="-122"/>
                <a:cs typeface="Inter" pitchFamily="34" charset="-120"/>
              </a:rPr>
              <a:t>Human repeats context. </a:t>
            </a:r>
            <a:r>
              <a:rPr lang="en-US" sz="2025" dirty="0">
                <a:solidFill>
                  <a:srgbClr val="8B949E"/>
                </a:solidFill>
                <a:latin typeface="Inter" pitchFamily="34" charset="0"/>
                <a:ea typeface="Inter" pitchFamily="34" charset="-122"/>
                <a:cs typeface="Inter" pitchFamily="34" charset="-120"/>
              </a:rPr>
              <a:t>Again. Again.</a:t>
            </a:r>
            <a:endParaRPr lang="en-US" sz="2025" dirty="0"/>
          </a:p>
        </p:txBody>
      </p:sp>
      <p:sp>
        <p:nvSpPr>
          <p:cNvPr id="11" name="Text 8"/>
          <p:cNvSpPr/>
          <p:nvPr/>
        </p:nvSpPr>
        <p:spPr>
          <a:xfrm>
            <a:off x="1474950" y="7809312"/>
            <a:ext cx="795542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No memory. Every session starts over.</a:t>
            </a:r>
            <a:endParaRPr lang="en-US" sz="1800" dirty="0"/>
          </a:p>
        </p:txBody>
      </p:sp>
      <p:sp>
        <p:nvSpPr>
          <p:cNvPr id="12" name="Shape 9"/>
          <p:cNvSpPr/>
          <p:nvPr/>
        </p:nvSpPr>
        <p:spPr>
          <a:xfrm>
            <a:off x="9134408" y="2588021"/>
            <a:ext cx="18972" cy="5927488"/>
          </a:xfrm>
          <a:prstGeom prst="rect">
            <a:avLst/>
          </a:prstGeom>
          <a:solidFill>
            <a:srgbClr val="FF6B00"/>
          </a:solidFill>
          <a:ln/>
        </p:spPr>
        <p:txBody>
          <a:bodyPr/>
          <a:lstStyle/>
          <a:p>
            <a:endParaRPr lang="en-US"/>
          </a:p>
        </p:txBody>
      </p:sp>
      <p:sp>
        <p:nvSpPr>
          <p:cNvPr id="13" name="Shape 10"/>
          <p:cNvSpPr/>
          <p:nvPr/>
        </p:nvSpPr>
        <p:spPr>
          <a:xfrm>
            <a:off x="9153380" y="2588021"/>
            <a:ext cx="8086842" cy="5927488"/>
          </a:xfrm>
          <a:prstGeom prst="rect">
            <a:avLst/>
          </a:prstGeom>
          <a:solidFill>
            <a:srgbClr val="FF6B00">
              <a:alpha val="10000"/>
            </a:srgbClr>
          </a:solidFill>
          <a:ln w="8204">
            <a:solidFill>
              <a:srgbClr val="FF6B00"/>
            </a:solidFill>
            <a:prstDash val="solid"/>
          </a:ln>
        </p:spPr>
        <p:txBody>
          <a:bodyPr/>
          <a:lstStyle/>
          <a:p>
            <a:endParaRPr lang="en-US"/>
          </a:p>
        </p:txBody>
      </p:sp>
      <p:sp>
        <p:nvSpPr>
          <p:cNvPr id="14" name="Text 11"/>
          <p:cNvSpPr/>
          <p:nvPr/>
        </p:nvSpPr>
        <p:spPr>
          <a:xfrm>
            <a:off x="9580636" y="3015276"/>
            <a:ext cx="7955564" cy="317041"/>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FF6B00"/>
                </a:solidFill>
                <a:latin typeface="Inter" pitchFamily="34" charset="0"/>
                <a:ea typeface="Inter" pitchFamily="34" charset="-122"/>
                <a:cs typeface="Inter" pitchFamily="34" charset="-120"/>
              </a:rPr>
              <a:t>WITH ZERO MANUAL</a:t>
            </a:r>
            <a:endParaRPr lang="en-US" sz="1800" dirty="0"/>
          </a:p>
        </p:txBody>
      </p:sp>
      <p:sp>
        <p:nvSpPr>
          <p:cNvPr id="15" name="Shape 12"/>
          <p:cNvSpPr/>
          <p:nvPr/>
        </p:nvSpPr>
        <p:spPr>
          <a:xfrm>
            <a:off x="9580636" y="3541751"/>
            <a:ext cx="7232331" cy="1102174"/>
          </a:xfrm>
          <a:prstGeom prst="roundRect">
            <a:avLst>
              <a:gd name="adj" fmla="val 6914"/>
            </a:avLst>
          </a:prstGeom>
          <a:solidFill>
            <a:srgbClr val="0D1117"/>
          </a:solidFill>
          <a:ln w="8204">
            <a:solidFill>
              <a:srgbClr val="FF6B00"/>
            </a:solidFill>
            <a:prstDash val="solid"/>
          </a:ln>
        </p:spPr>
        <p:txBody>
          <a:bodyPr/>
          <a:lstStyle/>
          <a:p>
            <a:endParaRPr lang="en-US"/>
          </a:p>
        </p:txBody>
      </p:sp>
      <p:sp>
        <p:nvSpPr>
          <p:cNvPr id="16" name="Text 13"/>
          <p:cNvSpPr/>
          <p:nvPr/>
        </p:nvSpPr>
        <p:spPr>
          <a:xfrm>
            <a:off x="9836375" y="3759417"/>
            <a:ext cx="7392939"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Agent</a:t>
            </a:r>
            <a:endParaRPr lang="en-US" sz="1800" dirty="0"/>
          </a:p>
        </p:txBody>
      </p:sp>
      <p:sp>
        <p:nvSpPr>
          <p:cNvPr id="17" name="Text 14"/>
          <p:cNvSpPr/>
          <p:nvPr/>
        </p:nvSpPr>
        <p:spPr>
          <a:xfrm>
            <a:off x="9836375" y="4114503"/>
            <a:ext cx="2871636"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"Create a launch plan."</a:t>
            </a:r>
            <a:endParaRPr lang="en-US" sz="2025" dirty="0"/>
          </a:p>
        </p:txBody>
      </p:sp>
      <p:sp>
        <p:nvSpPr>
          <p:cNvPr id="18" name="Text 15"/>
          <p:cNvSpPr/>
          <p:nvPr/>
        </p:nvSpPr>
        <p:spPr>
          <a:xfrm>
            <a:off x="9580636" y="4872488"/>
            <a:ext cx="79555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Company Brain provides</a:t>
            </a:r>
            <a:endParaRPr lang="en-US" sz="180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80636" y="5313076"/>
            <a:ext cx="228562" cy="228562"/>
          </a:xfrm>
          <a:prstGeom prst="rect">
            <a:avLst/>
          </a:prstGeom>
        </p:spPr>
      </p:pic>
      <p:sp>
        <p:nvSpPr>
          <p:cNvPr id="20" name="Text 16"/>
          <p:cNvSpPr/>
          <p:nvPr/>
        </p:nvSpPr>
        <p:spPr>
          <a:xfrm>
            <a:off x="9923415" y="5303718"/>
            <a:ext cx="2211967"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Previous launches</a:t>
            </a:r>
            <a:endParaRPr lang="en-US" sz="1950"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330055" y="5313076"/>
            <a:ext cx="228562" cy="228562"/>
          </a:xfrm>
          <a:prstGeom prst="rect">
            <a:avLst/>
          </a:prstGeom>
        </p:spPr>
      </p:pic>
      <p:sp>
        <p:nvSpPr>
          <p:cNvPr id="22" name="Text 17"/>
          <p:cNvSpPr/>
          <p:nvPr/>
        </p:nvSpPr>
        <p:spPr>
          <a:xfrm>
            <a:off x="13672834" y="5303718"/>
            <a:ext cx="1768303"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Past decisions</a:t>
            </a:r>
            <a:endParaRPr lang="en-US" sz="1950"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80636" y="5741741"/>
            <a:ext cx="228562" cy="228562"/>
          </a:xfrm>
          <a:prstGeom prst="rect">
            <a:avLst/>
          </a:prstGeom>
        </p:spPr>
      </p:pic>
      <p:sp>
        <p:nvSpPr>
          <p:cNvPr id="24" name="Text 18"/>
          <p:cNvSpPr/>
          <p:nvPr/>
        </p:nvSpPr>
        <p:spPr>
          <a:xfrm>
            <a:off x="9923415" y="5732384"/>
            <a:ext cx="982757"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Owners</a:t>
            </a:r>
            <a:endParaRPr lang="en-US" sz="195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330055" y="5741741"/>
            <a:ext cx="228562" cy="228562"/>
          </a:xfrm>
          <a:prstGeom prst="rect">
            <a:avLst/>
          </a:prstGeom>
        </p:spPr>
      </p:pic>
      <p:sp>
        <p:nvSpPr>
          <p:cNvPr id="26" name="Text 19"/>
          <p:cNvSpPr/>
          <p:nvPr/>
        </p:nvSpPr>
        <p:spPr>
          <a:xfrm>
            <a:off x="13672834" y="5732384"/>
            <a:ext cx="2326698"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Current constraints</a:t>
            </a:r>
            <a:endParaRPr lang="en-US" sz="1950"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80636" y="6170408"/>
            <a:ext cx="228562" cy="228562"/>
          </a:xfrm>
          <a:prstGeom prst="rect">
            <a:avLst/>
          </a:prstGeom>
        </p:spPr>
      </p:pic>
      <p:sp>
        <p:nvSpPr>
          <p:cNvPr id="28" name="Text 20"/>
          <p:cNvSpPr/>
          <p:nvPr/>
        </p:nvSpPr>
        <p:spPr>
          <a:xfrm>
            <a:off x="9923415" y="6161050"/>
            <a:ext cx="2189791"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Customer insights</a:t>
            </a:r>
            <a:endParaRPr lang="en-US" sz="195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330055" y="6170408"/>
            <a:ext cx="228562" cy="228562"/>
          </a:xfrm>
          <a:prstGeom prst="rect">
            <a:avLst/>
          </a:prstGeom>
        </p:spPr>
      </p:pic>
      <p:sp>
        <p:nvSpPr>
          <p:cNvPr id="30" name="Text 21"/>
          <p:cNvSpPr/>
          <p:nvPr/>
        </p:nvSpPr>
        <p:spPr>
          <a:xfrm>
            <a:off x="13672834" y="6161050"/>
            <a:ext cx="2002121"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Lessons learned</a:t>
            </a:r>
            <a:endParaRPr lang="en-US" sz="1950" dirty="0"/>
          </a:p>
        </p:txBody>
      </p:sp>
      <p:sp>
        <p:nvSpPr>
          <p:cNvPr id="31" name="Text 22"/>
          <p:cNvSpPr/>
          <p:nvPr/>
        </p:nvSpPr>
        <p:spPr>
          <a:xfrm>
            <a:off x="9580636" y="7809312"/>
            <a:ext cx="79555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0F6FC"/>
                </a:solidFill>
                <a:latin typeface="Inter" pitchFamily="34" charset="0"/>
                <a:ea typeface="Inter" pitchFamily="34" charset="-122"/>
                <a:cs typeface="Inter" pitchFamily="34" charset="-120"/>
              </a:rPr>
              <a:t>No context upload. No repeated explanation.</a:t>
            </a:r>
            <a:endParaRPr lang="en-US" sz="1800" dirty="0"/>
          </a:p>
        </p:txBody>
      </p:sp>
      <p:sp>
        <p:nvSpPr>
          <p:cNvPr id="32" name="Text 23"/>
          <p:cNvSpPr/>
          <p:nvPr/>
        </p:nvSpPr>
        <p:spPr>
          <a:xfrm>
            <a:off x="238067" y="8896488"/>
            <a:ext cx="17811782" cy="571369"/>
          </a:xfrm>
          <a:prstGeom prst="rect">
            <a:avLst/>
          </a:prstGeom>
          <a:noFill/>
          <a:ln/>
        </p:spPr>
        <p:txBody>
          <a:bodyPr wrap="square" lIns="25400" tIns="25400" rIns="25400" bIns="25400" rtlCol="0" anchor="t">
            <a:normAutofit/>
          </a:bodyPr>
          <a:lstStyle/>
          <a:p>
            <a:pPr marL="0" indent="0" algn="ctr">
              <a:buNone/>
            </a:pPr>
            <a:r>
              <a:rPr lang="en-US" sz="3300" b="1" kern="0" spc="-66" dirty="0">
                <a:solidFill>
                  <a:srgbClr val="F0F6FC"/>
                </a:solidFill>
                <a:latin typeface="Space Grotesk" pitchFamily="34" charset="0"/>
                <a:ea typeface="Space Grotesk" pitchFamily="34" charset="-122"/>
                <a:cs typeface="Space Grotesk" pitchFamily="34" charset="-120"/>
              </a:rPr>
              <a:t>AI starts with </a:t>
            </a:r>
            <a:r>
              <a:rPr lang="en-US" sz="3300" b="1" kern="0" spc="-66" dirty="0">
                <a:solidFill>
                  <a:srgbClr val="FF6B00"/>
                </a:solidFill>
                <a:latin typeface="Space Grotesk" pitchFamily="34" charset="0"/>
                <a:ea typeface="Space Grotesk" pitchFamily="34" charset="-122"/>
                <a:cs typeface="Space Grotesk" pitchFamily="34" charset="-120"/>
              </a:rPr>
              <a:t>company understanding.</a:t>
            </a:r>
            <a:endParaRPr lang="en-US" sz="3300" dirty="0"/>
          </a:p>
        </p:txBody>
      </p:sp>
      <p:pic>
        <p:nvPicPr>
          <p:cNvPr id="33" name="Picture 32">
            <a:extLst>
              <a:ext uri="{FF2B5EF4-FFF2-40B4-BE49-F238E27FC236}">
                <a16:creationId xmlns:a16="http://schemas.microsoft.com/office/drawing/2014/main" id="{C231D2F8-523C-90A1-C8DC-69C0FE69BB7F}"/>
              </a:ext>
            </a:extLst>
          </p:cNvPr>
          <p:cNvPicPr>
            <a:picLocks noChangeAspect="1"/>
          </p:cNvPicPr>
          <p:nvPr/>
        </p:nvPicPr>
        <p:blipFill>
          <a:blip r:embed="rId10"/>
          <a:stretch>
            <a:fillRect/>
          </a:stretch>
        </p:blipFill>
        <p:spPr>
          <a:xfrm>
            <a:off x="15314892" y="565831"/>
            <a:ext cx="2293110" cy="12887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A NEW CATEGORY</a:t>
            </a:r>
            <a:endParaRPr lang="en-US" sz="1800" dirty="0"/>
          </a:p>
        </p:txBody>
      </p:sp>
      <p:sp>
        <p:nvSpPr>
          <p:cNvPr id="3" name="Text 1"/>
          <p:cNvSpPr/>
          <p:nvPr/>
        </p:nvSpPr>
        <p:spPr>
          <a:xfrm>
            <a:off x="1047694" y="1206049"/>
            <a:ext cx="16678305" cy="1190012"/>
          </a:xfrm>
          <a:prstGeom prst="rect">
            <a:avLst/>
          </a:prstGeom>
          <a:noFill/>
          <a:ln/>
        </p:spPr>
        <p:txBody>
          <a:bodyPr wrap="square" lIns="25400" tIns="25400" rIns="25400" bIns="25400" rtlCol="0" anchor="t">
            <a:noAutofit/>
          </a:bodyPr>
          <a:lstStyle/>
          <a:p>
            <a:pPr marL="0" indent="0" algn="l">
              <a:lnSpc>
                <a:spcPct val="112000"/>
              </a:lnSpc>
              <a:buNone/>
            </a:pPr>
            <a:r>
              <a:rPr lang="en-US" sz="4000" b="1" kern="0" spc="-81" dirty="0">
                <a:solidFill>
                  <a:srgbClr val="8B949E"/>
                </a:solidFill>
                <a:latin typeface="Space Grotesk" pitchFamily="34" charset="0"/>
                <a:ea typeface="Space Grotesk" pitchFamily="34" charset="-122"/>
                <a:cs typeface="Space Grotesk" pitchFamily="34" charset="-120"/>
              </a:rPr>
              <a:t>Search finds information. </a:t>
            </a:r>
          </a:p>
          <a:p>
            <a:pPr marL="0" indent="0" algn="l">
              <a:lnSpc>
                <a:spcPct val="112000"/>
              </a:lnSpc>
              <a:buNone/>
            </a:pPr>
            <a:r>
              <a:rPr lang="en-US" sz="4000" b="1" kern="0" spc="-81" dirty="0">
                <a:solidFill>
                  <a:srgbClr val="F0F6FC"/>
                </a:solidFill>
                <a:latin typeface="Space Grotesk" pitchFamily="34" charset="0"/>
                <a:ea typeface="Space Grotesk" pitchFamily="34" charset="-122"/>
                <a:cs typeface="Space Grotesk" pitchFamily="34" charset="-120"/>
              </a:rPr>
              <a:t>Company Brain creates understanding.</a:t>
            </a:r>
            <a:endParaRPr lang="en-US" sz="4000" dirty="0"/>
          </a:p>
        </p:txBody>
      </p:sp>
      <p:sp>
        <p:nvSpPr>
          <p:cNvPr id="4" name="Shape 2"/>
          <p:cNvSpPr/>
          <p:nvPr/>
        </p:nvSpPr>
        <p:spPr>
          <a:xfrm>
            <a:off x="1047694" y="4525863"/>
            <a:ext cx="8967249" cy="3321906"/>
          </a:xfrm>
          <a:prstGeom prst="roundRect">
            <a:avLst>
              <a:gd name="adj" fmla="val 2294"/>
            </a:avLst>
          </a:prstGeom>
          <a:ln w="8204">
            <a:solidFill>
              <a:srgbClr val="30363D"/>
            </a:solidFill>
            <a:prstDash val="solid"/>
          </a:ln>
        </p:spPr>
        <p:txBody>
          <a:bodyPr/>
          <a:lstStyle/>
          <a:p>
            <a:endParaRPr lang="en-US"/>
          </a:p>
        </p:txBody>
      </p:sp>
      <p:sp>
        <p:nvSpPr>
          <p:cNvPr id="5" name="Shape 3"/>
          <p:cNvSpPr/>
          <p:nvPr/>
        </p:nvSpPr>
        <p:spPr>
          <a:xfrm>
            <a:off x="1055898" y="4534067"/>
            <a:ext cx="8950841" cy="629924"/>
          </a:xfrm>
          <a:prstGeom prst="rect">
            <a:avLst/>
          </a:prstGeom>
          <a:solidFill>
            <a:srgbClr val="161B22"/>
          </a:solidFill>
          <a:ln/>
        </p:spPr>
        <p:txBody>
          <a:bodyPr/>
          <a:lstStyle/>
          <a:p>
            <a:endParaRPr lang="en-US"/>
          </a:p>
        </p:txBody>
      </p:sp>
      <p:sp>
        <p:nvSpPr>
          <p:cNvPr id="6" name="Shape 4"/>
          <p:cNvSpPr/>
          <p:nvPr/>
        </p:nvSpPr>
        <p:spPr>
          <a:xfrm>
            <a:off x="1055898" y="5155787"/>
            <a:ext cx="8950841" cy="9525"/>
          </a:xfrm>
          <a:prstGeom prst="rect">
            <a:avLst/>
          </a:prstGeom>
          <a:solidFill>
            <a:srgbClr val="30363D"/>
          </a:solidFill>
          <a:ln/>
        </p:spPr>
        <p:txBody>
          <a:bodyPr/>
          <a:lstStyle/>
          <a:p>
            <a:endParaRPr lang="en-US"/>
          </a:p>
        </p:txBody>
      </p:sp>
      <p:sp>
        <p:nvSpPr>
          <p:cNvPr id="7" name="Text 5"/>
          <p:cNvSpPr/>
          <p:nvPr/>
        </p:nvSpPr>
        <p:spPr>
          <a:xfrm>
            <a:off x="1341648" y="4705517"/>
            <a:ext cx="4033892" cy="3169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484F58"/>
                </a:solidFill>
                <a:latin typeface="Inter" pitchFamily="34" charset="0"/>
                <a:ea typeface="Inter" pitchFamily="34" charset="-122"/>
                <a:cs typeface="Inter" pitchFamily="34" charset="-120"/>
              </a:rPr>
              <a:t>Search Systems</a:t>
            </a:r>
            <a:endParaRPr lang="en-US" sz="1800" dirty="0"/>
          </a:p>
        </p:txBody>
      </p:sp>
      <p:sp>
        <p:nvSpPr>
          <p:cNvPr id="8" name="Shape 6"/>
          <p:cNvSpPr/>
          <p:nvPr/>
        </p:nvSpPr>
        <p:spPr>
          <a:xfrm>
            <a:off x="5527152" y="4534067"/>
            <a:ext cx="9525" cy="621720"/>
          </a:xfrm>
          <a:prstGeom prst="rect">
            <a:avLst/>
          </a:prstGeom>
          <a:solidFill>
            <a:srgbClr val="30363D"/>
          </a:solidFill>
          <a:ln/>
        </p:spPr>
        <p:txBody>
          <a:bodyPr/>
          <a:lstStyle/>
          <a:p>
            <a:endParaRPr lang="en-US"/>
          </a:p>
        </p:txBody>
      </p:sp>
      <p:sp>
        <p:nvSpPr>
          <p:cNvPr id="9" name="Text 7"/>
          <p:cNvSpPr/>
          <p:nvPr/>
        </p:nvSpPr>
        <p:spPr>
          <a:xfrm>
            <a:off x="5821106" y="4705517"/>
            <a:ext cx="4034270" cy="3169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Company Brain</a:t>
            </a:r>
            <a:endParaRPr lang="en-US" sz="1800" dirty="0"/>
          </a:p>
        </p:txBody>
      </p:sp>
      <p:sp>
        <p:nvSpPr>
          <p:cNvPr id="10" name="Shape 8"/>
          <p:cNvSpPr/>
          <p:nvPr/>
        </p:nvSpPr>
        <p:spPr>
          <a:xfrm>
            <a:off x="1055898" y="5826732"/>
            <a:ext cx="8950841" cy="9525"/>
          </a:xfrm>
          <a:prstGeom prst="rect">
            <a:avLst/>
          </a:prstGeom>
          <a:solidFill>
            <a:srgbClr val="30363D"/>
          </a:solidFill>
          <a:ln/>
        </p:spPr>
        <p:txBody>
          <a:bodyPr/>
          <a:lstStyle/>
          <a:p>
            <a:endParaRPr lang="en-US"/>
          </a:p>
        </p:txBody>
      </p:sp>
      <p:sp>
        <p:nvSpPr>
          <p:cNvPr id="11" name="Text 9"/>
          <p:cNvSpPr/>
          <p:nvPr/>
        </p:nvSpPr>
        <p:spPr>
          <a:xfrm>
            <a:off x="1341648" y="5335441"/>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Files</a:t>
            </a:r>
            <a:endParaRPr lang="en-US" sz="2100" dirty="0"/>
          </a:p>
        </p:txBody>
      </p:sp>
      <p:sp>
        <p:nvSpPr>
          <p:cNvPr id="12" name="Shape 10"/>
          <p:cNvSpPr/>
          <p:nvPr/>
        </p:nvSpPr>
        <p:spPr>
          <a:xfrm>
            <a:off x="5527152" y="5163991"/>
            <a:ext cx="9525" cy="662740"/>
          </a:xfrm>
          <a:prstGeom prst="rect">
            <a:avLst/>
          </a:prstGeom>
          <a:solidFill>
            <a:srgbClr val="30363D"/>
          </a:solidFill>
          <a:ln/>
        </p:spPr>
        <p:txBody>
          <a:bodyPr/>
          <a:lstStyle/>
          <a:p>
            <a:endParaRPr lang="en-US"/>
          </a:p>
        </p:txBody>
      </p:sp>
      <p:sp>
        <p:nvSpPr>
          <p:cNvPr id="13" name="Text 11"/>
          <p:cNvSpPr/>
          <p:nvPr/>
        </p:nvSpPr>
        <p:spPr>
          <a:xfrm>
            <a:off x="5821106" y="5335441"/>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0F6FC"/>
                </a:solidFill>
                <a:latin typeface="Inter" pitchFamily="34" charset="0"/>
                <a:ea typeface="Inter" pitchFamily="34" charset="-122"/>
                <a:cs typeface="Inter" pitchFamily="34" charset="-120"/>
              </a:rPr>
              <a:t>Organizational reality</a:t>
            </a:r>
            <a:endParaRPr lang="en-US" sz="2100" dirty="0"/>
          </a:p>
        </p:txBody>
      </p:sp>
      <p:sp>
        <p:nvSpPr>
          <p:cNvPr id="14" name="Shape 12"/>
          <p:cNvSpPr/>
          <p:nvPr/>
        </p:nvSpPr>
        <p:spPr>
          <a:xfrm>
            <a:off x="1055898" y="6497676"/>
            <a:ext cx="8950841" cy="9525"/>
          </a:xfrm>
          <a:prstGeom prst="rect">
            <a:avLst/>
          </a:prstGeom>
          <a:solidFill>
            <a:srgbClr val="30363D"/>
          </a:solidFill>
          <a:ln/>
        </p:spPr>
        <p:txBody>
          <a:bodyPr/>
          <a:lstStyle/>
          <a:p>
            <a:endParaRPr lang="en-US"/>
          </a:p>
        </p:txBody>
      </p:sp>
      <p:sp>
        <p:nvSpPr>
          <p:cNvPr id="15" name="Text 13"/>
          <p:cNvSpPr/>
          <p:nvPr/>
        </p:nvSpPr>
        <p:spPr>
          <a:xfrm>
            <a:off x="1341648" y="6006386"/>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Retrieval</a:t>
            </a:r>
            <a:endParaRPr lang="en-US" sz="2100" dirty="0"/>
          </a:p>
        </p:txBody>
      </p:sp>
      <p:sp>
        <p:nvSpPr>
          <p:cNvPr id="16" name="Shape 14"/>
          <p:cNvSpPr/>
          <p:nvPr/>
        </p:nvSpPr>
        <p:spPr>
          <a:xfrm>
            <a:off x="5527152" y="5834936"/>
            <a:ext cx="9525" cy="662740"/>
          </a:xfrm>
          <a:prstGeom prst="rect">
            <a:avLst/>
          </a:prstGeom>
          <a:solidFill>
            <a:srgbClr val="30363D"/>
          </a:solidFill>
          <a:ln/>
        </p:spPr>
        <p:txBody>
          <a:bodyPr/>
          <a:lstStyle/>
          <a:p>
            <a:endParaRPr lang="en-US"/>
          </a:p>
        </p:txBody>
      </p:sp>
      <p:sp>
        <p:nvSpPr>
          <p:cNvPr id="17" name="Text 15"/>
          <p:cNvSpPr/>
          <p:nvPr/>
        </p:nvSpPr>
        <p:spPr>
          <a:xfrm>
            <a:off x="5821106" y="6006386"/>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0F6FC"/>
                </a:solidFill>
                <a:latin typeface="Inter" pitchFamily="34" charset="0"/>
                <a:ea typeface="Inter" pitchFamily="34" charset="-122"/>
                <a:cs typeface="Inter" pitchFamily="34" charset="-120"/>
              </a:rPr>
              <a:t>Understanding</a:t>
            </a:r>
            <a:endParaRPr lang="en-US" sz="2100" dirty="0"/>
          </a:p>
        </p:txBody>
      </p:sp>
      <p:sp>
        <p:nvSpPr>
          <p:cNvPr id="18" name="Shape 16"/>
          <p:cNvSpPr/>
          <p:nvPr/>
        </p:nvSpPr>
        <p:spPr>
          <a:xfrm>
            <a:off x="1055898" y="7168621"/>
            <a:ext cx="8950841" cy="9525"/>
          </a:xfrm>
          <a:prstGeom prst="rect">
            <a:avLst/>
          </a:prstGeom>
          <a:solidFill>
            <a:srgbClr val="30363D"/>
          </a:solidFill>
          <a:ln/>
        </p:spPr>
        <p:txBody>
          <a:bodyPr/>
          <a:lstStyle/>
          <a:p>
            <a:endParaRPr lang="en-US"/>
          </a:p>
        </p:txBody>
      </p:sp>
      <p:sp>
        <p:nvSpPr>
          <p:cNvPr id="19" name="Text 17"/>
          <p:cNvSpPr/>
          <p:nvPr/>
        </p:nvSpPr>
        <p:spPr>
          <a:xfrm>
            <a:off x="1341648" y="6677330"/>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Static knowledge</a:t>
            </a:r>
            <a:endParaRPr lang="en-US" sz="2100" dirty="0"/>
          </a:p>
        </p:txBody>
      </p:sp>
      <p:sp>
        <p:nvSpPr>
          <p:cNvPr id="20" name="Shape 18"/>
          <p:cNvSpPr/>
          <p:nvPr/>
        </p:nvSpPr>
        <p:spPr>
          <a:xfrm>
            <a:off x="5527152" y="6505880"/>
            <a:ext cx="9525" cy="662740"/>
          </a:xfrm>
          <a:prstGeom prst="rect">
            <a:avLst/>
          </a:prstGeom>
          <a:solidFill>
            <a:srgbClr val="30363D"/>
          </a:solidFill>
          <a:ln/>
        </p:spPr>
        <p:txBody>
          <a:bodyPr/>
          <a:lstStyle/>
          <a:p>
            <a:endParaRPr lang="en-US"/>
          </a:p>
        </p:txBody>
      </p:sp>
      <p:sp>
        <p:nvSpPr>
          <p:cNvPr id="21" name="Text 19"/>
          <p:cNvSpPr/>
          <p:nvPr/>
        </p:nvSpPr>
        <p:spPr>
          <a:xfrm>
            <a:off x="5821106" y="6677330"/>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0F6FC"/>
                </a:solidFill>
                <a:latin typeface="Inter" pitchFamily="34" charset="0"/>
                <a:ea typeface="Inter" pitchFamily="34" charset="-122"/>
                <a:cs typeface="Inter" pitchFamily="34" charset="-120"/>
              </a:rPr>
              <a:t>Living memory</a:t>
            </a:r>
            <a:endParaRPr lang="en-US" sz="2100" dirty="0"/>
          </a:p>
        </p:txBody>
      </p:sp>
      <p:sp>
        <p:nvSpPr>
          <p:cNvPr id="22" name="Shape 20"/>
          <p:cNvSpPr/>
          <p:nvPr/>
        </p:nvSpPr>
        <p:spPr>
          <a:xfrm>
            <a:off x="1055898" y="7176825"/>
            <a:ext cx="8950841" cy="662740"/>
          </a:xfrm>
          <a:prstGeom prst="rect">
            <a:avLst/>
          </a:prstGeom>
          <a:solidFill>
            <a:srgbClr val="FF6B00">
              <a:alpha val="10000"/>
            </a:srgbClr>
          </a:solidFill>
          <a:ln/>
        </p:spPr>
        <p:txBody>
          <a:bodyPr/>
          <a:lstStyle/>
          <a:p>
            <a:endParaRPr lang="en-US"/>
          </a:p>
        </p:txBody>
      </p:sp>
      <p:sp>
        <p:nvSpPr>
          <p:cNvPr id="23" name="Text 21"/>
          <p:cNvSpPr/>
          <p:nvPr/>
        </p:nvSpPr>
        <p:spPr>
          <a:xfrm>
            <a:off x="1341648" y="7348275"/>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strike="sngStrike" dirty="0">
                <a:solidFill>
                  <a:srgbClr val="484F58"/>
                </a:solidFill>
                <a:latin typeface="Inter" pitchFamily="34" charset="0"/>
                <a:ea typeface="Inter" pitchFamily="34" charset="-122"/>
                <a:cs typeface="Inter" pitchFamily="34" charset="-120"/>
              </a:rPr>
              <a:t>Answers</a:t>
            </a:r>
            <a:endParaRPr lang="en-US" sz="2100" dirty="0"/>
          </a:p>
        </p:txBody>
      </p:sp>
      <p:sp>
        <p:nvSpPr>
          <p:cNvPr id="24" name="Shape 22"/>
          <p:cNvSpPr/>
          <p:nvPr/>
        </p:nvSpPr>
        <p:spPr>
          <a:xfrm>
            <a:off x="5527152" y="7176825"/>
            <a:ext cx="9525" cy="662740"/>
          </a:xfrm>
          <a:prstGeom prst="rect">
            <a:avLst/>
          </a:prstGeom>
          <a:solidFill>
            <a:srgbClr val="FF6B00"/>
          </a:solidFill>
          <a:ln/>
        </p:spPr>
        <p:txBody>
          <a:bodyPr/>
          <a:lstStyle/>
          <a:p>
            <a:endParaRPr lang="en-US"/>
          </a:p>
        </p:txBody>
      </p:sp>
      <p:sp>
        <p:nvSpPr>
          <p:cNvPr id="25" name="Text 23"/>
          <p:cNvSpPr/>
          <p:nvPr/>
        </p:nvSpPr>
        <p:spPr>
          <a:xfrm>
            <a:off x="5821106" y="7348275"/>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F6B00"/>
                </a:solidFill>
                <a:latin typeface="Inter" pitchFamily="34" charset="0"/>
                <a:ea typeface="Inter" pitchFamily="34" charset="-122"/>
                <a:cs typeface="Inter" pitchFamily="34" charset="-120"/>
              </a:rPr>
              <a:t>Intelligence</a:t>
            </a:r>
            <a:endParaRPr lang="en-US" sz="2100" dirty="0"/>
          </a:p>
        </p:txBody>
      </p:sp>
      <p:sp>
        <p:nvSpPr>
          <p:cNvPr id="26" name="Text 24"/>
          <p:cNvSpPr/>
          <p:nvPr/>
        </p:nvSpPr>
        <p:spPr>
          <a:xfrm>
            <a:off x="10624484" y="4260511"/>
            <a:ext cx="7277312"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Company Brain requires</a:t>
            </a:r>
            <a:endParaRPr lang="en-US" sz="2025" dirty="0"/>
          </a:p>
        </p:txBody>
      </p:sp>
      <p:sp>
        <p:nvSpPr>
          <p:cNvPr id="27" name="Shape 25"/>
          <p:cNvSpPr/>
          <p:nvPr/>
        </p:nvSpPr>
        <p:spPr>
          <a:xfrm>
            <a:off x="10624484" y="4781730"/>
            <a:ext cx="3212560"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2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1251" y="5018496"/>
            <a:ext cx="304707" cy="304707"/>
          </a:xfrm>
          <a:prstGeom prst="rect">
            <a:avLst/>
          </a:prstGeom>
        </p:spPr>
      </p:pic>
      <p:sp>
        <p:nvSpPr>
          <p:cNvPr id="29" name="Text 26"/>
          <p:cNvSpPr/>
          <p:nvPr/>
        </p:nvSpPr>
        <p:spPr>
          <a:xfrm>
            <a:off x="11318246" y="5019009"/>
            <a:ext cx="1020829"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Source</a:t>
            </a:r>
            <a:endParaRPr lang="en-US" sz="2175" dirty="0"/>
          </a:p>
        </p:txBody>
      </p:sp>
      <p:sp>
        <p:nvSpPr>
          <p:cNvPr id="30" name="Shape 27"/>
          <p:cNvSpPr/>
          <p:nvPr/>
        </p:nvSpPr>
        <p:spPr>
          <a:xfrm>
            <a:off x="14027534" y="4781730"/>
            <a:ext cx="3212688"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3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264301" y="5018496"/>
            <a:ext cx="304707" cy="304707"/>
          </a:xfrm>
          <a:prstGeom prst="rect">
            <a:avLst/>
          </a:prstGeom>
        </p:spPr>
      </p:pic>
      <p:sp>
        <p:nvSpPr>
          <p:cNvPr id="32" name="Text 28"/>
          <p:cNvSpPr/>
          <p:nvPr/>
        </p:nvSpPr>
        <p:spPr>
          <a:xfrm>
            <a:off x="14721297" y="5019009"/>
            <a:ext cx="1517394"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Freshness</a:t>
            </a:r>
            <a:endParaRPr lang="en-US" sz="2175" dirty="0"/>
          </a:p>
        </p:txBody>
      </p:sp>
      <p:sp>
        <p:nvSpPr>
          <p:cNvPr id="33" name="Shape 29"/>
          <p:cNvSpPr/>
          <p:nvPr/>
        </p:nvSpPr>
        <p:spPr>
          <a:xfrm>
            <a:off x="10624484" y="5783275"/>
            <a:ext cx="3212560"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3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61251" y="6020041"/>
            <a:ext cx="304707" cy="304707"/>
          </a:xfrm>
          <a:prstGeom prst="rect">
            <a:avLst/>
          </a:prstGeom>
        </p:spPr>
      </p:pic>
      <p:sp>
        <p:nvSpPr>
          <p:cNvPr id="35" name="Text 30"/>
          <p:cNvSpPr/>
          <p:nvPr/>
        </p:nvSpPr>
        <p:spPr>
          <a:xfrm>
            <a:off x="11318246" y="6020554"/>
            <a:ext cx="1596499"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Ownership</a:t>
            </a:r>
            <a:endParaRPr lang="en-US" sz="2175" dirty="0"/>
          </a:p>
        </p:txBody>
      </p:sp>
      <p:sp>
        <p:nvSpPr>
          <p:cNvPr id="36" name="Shape 31"/>
          <p:cNvSpPr/>
          <p:nvPr/>
        </p:nvSpPr>
        <p:spPr>
          <a:xfrm>
            <a:off x="14027534" y="5783275"/>
            <a:ext cx="3212688"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3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264301" y="6020041"/>
            <a:ext cx="304707" cy="304707"/>
          </a:xfrm>
          <a:prstGeom prst="rect">
            <a:avLst/>
          </a:prstGeom>
        </p:spPr>
      </p:pic>
      <p:sp>
        <p:nvSpPr>
          <p:cNvPr id="38" name="Text 32"/>
          <p:cNvSpPr/>
          <p:nvPr/>
        </p:nvSpPr>
        <p:spPr>
          <a:xfrm>
            <a:off x="14721297" y="6020554"/>
            <a:ext cx="770860"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Trust</a:t>
            </a:r>
            <a:endParaRPr lang="en-US" sz="2175" dirty="0"/>
          </a:p>
        </p:txBody>
      </p:sp>
      <p:sp>
        <p:nvSpPr>
          <p:cNvPr id="39" name="Text 33"/>
          <p:cNvSpPr/>
          <p:nvPr/>
        </p:nvSpPr>
        <p:spPr>
          <a:xfrm>
            <a:off x="10624484" y="6899038"/>
            <a:ext cx="6814211" cy="1252184"/>
          </a:xfrm>
          <a:prstGeom prst="rect">
            <a:avLst/>
          </a:prstGeom>
          <a:noFill/>
          <a:ln/>
        </p:spPr>
        <p:txBody>
          <a:bodyPr wrap="square" lIns="25400" tIns="25400" rIns="25400" bIns="25400" rtlCol="0" anchor="t">
            <a:normAutofit/>
          </a:bodyPr>
          <a:lstStyle/>
          <a:p>
            <a:pPr marL="0" indent="0" algn="l">
              <a:lnSpc>
                <a:spcPct val="125000"/>
              </a:lnSpc>
              <a:buNone/>
            </a:pPr>
            <a:r>
              <a:rPr lang="en-US" sz="2550" b="1" kern="0" spc="-51" dirty="0">
                <a:solidFill>
                  <a:srgbClr val="F0F6FC"/>
                </a:solidFill>
                <a:latin typeface="Space Grotesk" pitchFamily="34" charset="0"/>
                <a:ea typeface="Space Grotesk" pitchFamily="34" charset="-122"/>
                <a:cs typeface="Space Grotesk" pitchFamily="34" charset="-120"/>
              </a:rPr>
              <a:t>The future isn't better search. It's </a:t>
            </a:r>
            <a:r>
              <a:rPr lang="en-US" sz="2550" b="1" kern="0" spc="-51" dirty="0">
                <a:solidFill>
                  <a:srgbClr val="FF6B00"/>
                </a:solidFill>
                <a:latin typeface="Space Grotesk" pitchFamily="34" charset="0"/>
                <a:ea typeface="Space Grotesk" pitchFamily="34" charset="-122"/>
                <a:cs typeface="Space Grotesk" pitchFamily="34" charset="-120"/>
              </a:rPr>
              <a:t>companies that understand themselves.</a:t>
            </a:r>
            <a:endParaRPr lang="en-US" sz="2550" dirty="0"/>
          </a:p>
        </p:txBody>
      </p:sp>
      <p:pic>
        <p:nvPicPr>
          <p:cNvPr id="40" name="Picture 39">
            <a:extLst>
              <a:ext uri="{FF2B5EF4-FFF2-40B4-BE49-F238E27FC236}">
                <a16:creationId xmlns:a16="http://schemas.microsoft.com/office/drawing/2014/main" id="{825AEF3E-8CEE-705C-987B-A229EDF56EC4}"/>
              </a:ext>
            </a:extLst>
          </p:cNvPr>
          <p:cNvPicPr>
            <a:picLocks noChangeAspect="1"/>
          </p:cNvPicPr>
          <p:nvPr/>
        </p:nvPicPr>
        <p:blipFill>
          <a:blip r:embed="rId7"/>
          <a:stretch>
            <a:fillRect/>
          </a:stretch>
        </p:blipFill>
        <p:spPr>
          <a:xfrm>
            <a:off x="15314892" y="565831"/>
            <a:ext cx="2293110" cy="12887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MARKET SHIFT</a:t>
            </a:r>
            <a:endParaRPr lang="en-US" sz="1800" dirty="0"/>
          </a:p>
        </p:txBody>
      </p:sp>
      <p:sp>
        <p:nvSpPr>
          <p:cNvPr id="3" name="Text 1"/>
          <p:cNvSpPr/>
          <p:nvPr/>
        </p:nvSpPr>
        <p:spPr>
          <a:xfrm>
            <a:off x="1047694" y="1437871"/>
            <a:ext cx="16678305" cy="174456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Every platform shift creates a new intelligence layer.</a:t>
            </a:r>
            <a:endParaRPr lang="en-US" sz="5250" dirty="0"/>
          </a:p>
        </p:txBody>
      </p:sp>
      <p:sp>
        <p:nvSpPr>
          <p:cNvPr id="4" name="Shape 2"/>
          <p:cNvSpPr/>
          <p:nvPr/>
        </p:nvSpPr>
        <p:spPr>
          <a:xfrm>
            <a:off x="1047694" y="3460351"/>
            <a:ext cx="1619163" cy="632744"/>
          </a:xfrm>
          <a:prstGeom prst="roundRect">
            <a:avLst>
              <a:gd name="adj" fmla="val 12043"/>
            </a:avLst>
          </a:prstGeom>
          <a:solidFill>
            <a:srgbClr val="161B22"/>
          </a:solidFill>
          <a:ln w="8204">
            <a:solidFill>
              <a:srgbClr val="30363D"/>
            </a:solidFill>
            <a:prstDash val="solid"/>
          </a:ln>
        </p:spPr>
        <p:txBody>
          <a:bodyPr/>
          <a:lstStyle/>
          <a:p>
            <a:endParaRPr lang="en-US"/>
          </a:p>
        </p:txBody>
      </p:sp>
      <p:sp>
        <p:nvSpPr>
          <p:cNvPr id="5" name="Text 3"/>
          <p:cNvSpPr/>
          <p:nvPr/>
        </p:nvSpPr>
        <p:spPr>
          <a:xfrm>
            <a:off x="1246398" y="3620955"/>
            <a:ext cx="1221755" cy="349636"/>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8B949E"/>
                </a:solidFill>
                <a:latin typeface="Inter" pitchFamily="34" charset="0"/>
                <a:ea typeface="Inter" pitchFamily="34" charset="-122"/>
                <a:cs typeface="Inter" pitchFamily="34" charset="-120"/>
              </a:rPr>
              <a:t>CRM</a:t>
            </a:r>
            <a:endParaRPr lang="en-US" sz="2025"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14391" y="3681478"/>
            <a:ext cx="438024" cy="190490"/>
          </a:xfrm>
          <a:prstGeom prst="rect">
            <a:avLst/>
          </a:prstGeom>
        </p:spPr>
      </p:pic>
      <p:sp>
        <p:nvSpPr>
          <p:cNvPr id="7" name="Text 4"/>
          <p:cNvSpPr/>
          <p:nvPr/>
        </p:nvSpPr>
        <p:spPr>
          <a:xfrm>
            <a:off x="3599949" y="3616742"/>
            <a:ext cx="3024211" cy="358061"/>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Customer Intelligence</a:t>
            </a:r>
            <a:endParaRPr lang="en-US" sz="2100" dirty="0"/>
          </a:p>
        </p:txBody>
      </p:sp>
      <p:sp>
        <p:nvSpPr>
          <p:cNvPr id="8" name="Shape 5"/>
          <p:cNvSpPr/>
          <p:nvPr/>
        </p:nvSpPr>
        <p:spPr>
          <a:xfrm>
            <a:off x="1047694" y="4226412"/>
            <a:ext cx="1619163" cy="632744"/>
          </a:xfrm>
          <a:prstGeom prst="roundRect">
            <a:avLst>
              <a:gd name="adj" fmla="val 12043"/>
            </a:avLst>
          </a:prstGeom>
          <a:solidFill>
            <a:srgbClr val="161B22"/>
          </a:solidFill>
          <a:ln w="8204">
            <a:solidFill>
              <a:srgbClr val="30363D"/>
            </a:solidFill>
            <a:prstDash val="solid"/>
          </a:ln>
        </p:spPr>
        <p:txBody>
          <a:bodyPr/>
          <a:lstStyle/>
          <a:p>
            <a:endParaRPr lang="en-US"/>
          </a:p>
        </p:txBody>
      </p:sp>
      <p:sp>
        <p:nvSpPr>
          <p:cNvPr id="9" name="Text 6"/>
          <p:cNvSpPr/>
          <p:nvPr/>
        </p:nvSpPr>
        <p:spPr>
          <a:xfrm>
            <a:off x="1246398" y="4387016"/>
            <a:ext cx="1221755" cy="349636"/>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8B949E"/>
                </a:solidFill>
                <a:latin typeface="Inter" pitchFamily="34" charset="0"/>
                <a:ea typeface="Inter" pitchFamily="34" charset="-122"/>
                <a:cs typeface="Inter" pitchFamily="34" charset="-120"/>
              </a:rPr>
              <a:t>ERP</a:t>
            </a:r>
            <a:endParaRPr lang="en-US" sz="2025"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4391" y="4447539"/>
            <a:ext cx="438024" cy="190490"/>
          </a:xfrm>
          <a:prstGeom prst="rect">
            <a:avLst/>
          </a:prstGeom>
        </p:spPr>
      </p:pic>
      <p:sp>
        <p:nvSpPr>
          <p:cNvPr id="11" name="Text 7"/>
          <p:cNvSpPr/>
          <p:nvPr/>
        </p:nvSpPr>
        <p:spPr>
          <a:xfrm>
            <a:off x="3599949" y="4382803"/>
            <a:ext cx="3276335" cy="358061"/>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Operational Intelligence</a:t>
            </a:r>
            <a:endParaRPr lang="en-US" sz="2100" dirty="0"/>
          </a:p>
        </p:txBody>
      </p:sp>
      <p:sp>
        <p:nvSpPr>
          <p:cNvPr id="12" name="Shape 8"/>
          <p:cNvSpPr/>
          <p:nvPr/>
        </p:nvSpPr>
        <p:spPr>
          <a:xfrm>
            <a:off x="1047694" y="4992473"/>
            <a:ext cx="1619163" cy="944501"/>
          </a:xfrm>
          <a:prstGeom prst="roundRect">
            <a:avLst>
              <a:gd name="adj" fmla="val 8068"/>
            </a:avLst>
          </a:prstGeom>
          <a:solidFill>
            <a:srgbClr val="161B22"/>
          </a:solidFill>
          <a:ln w="8204">
            <a:solidFill>
              <a:srgbClr val="30363D"/>
            </a:solidFill>
            <a:prstDash val="solid"/>
          </a:ln>
        </p:spPr>
        <p:txBody>
          <a:bodyPr/>
          <a:lstStyle/>
          <a:p>
            <a:endParaRPr lang="en-US"/>
          </a:p>
        </p:txBody>
      </p:sp>
      <p:sp>
        <p:nvSpPr>
          <p:cNvPr id="13" name="Text 9"/>
          <p:cNvSpPr/>
          <p:nvPr/>
        </p:nvSpPr>
        <p:spPr>
          <a:xfrm>
            <a:off x="1246398" y="5153077"/>
            <a:ext cx="1221755" cy="661393"/>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8B949E"/>
                </a:solidFill>
                <a:latin typeface="Inter" pitchFamily="34" charset="0"/>
                <a:ea typeface="Inter" pitchFamily="34" charset="-122"/>
                <a:cs typeface="Inter" pitchFamily="34" charset="-120"/>
              </a:rPr>
              <a:t>HR Systems</a:t>
            </a:r>
            <a:endParaRPr lang="en-US" sz="2025"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14391" y="5369479"/>
            <a:ext cx="438024" cy="190490"/>
          </a:xfrm>
          <a:prstGeom prst="rect">
            <a:avLst/>
          </a:prstGeom>
        </p:spPr>
      </p:pic>
      <p:sp>
        <p:nvSpPr>
          <p:cNvPr id="15" name="Text 10"/>
          <p:cNvSpPr/>
          <p:nvPr/>
        </p:nvSpPr>
        <p:spPr>
          <a:xfrm>
            <a:off x="3599949" y="5304743"/>
            <a:ext cx="3029570" cy="358061"/>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Employee Intelligence</a:t>
            </a:r>
            <a:endParaRPr lang="en-US" sz="2100" dirty="0"/>
          </a:p>
        </p:txBody>
      </p:sp>
      <p:sp>
        <p:nvSpPr>
          <p:cNvPr id="16" name="Shape 11"/>
          <p:cNvSpPr/>
          <p:nvPr/>
        </p:nvSpPr>
        <p:spPr>
          <a:xfrm>
            <a:off x="1047694" y="6203609"/>
            <a:ext cx="9349767" cy="1159732"/>
          </a:xfrm>
          <a:prstGeom prst="roundRect">
            <a:avLst>
              <a:gd name="adj" fmla="val 6570"/>
            </a:avLst>
          </a:prstGeom>
          <a:solidFill>
            <a:srgbClr val="FF6B00">
              <a:alpha val="10000"/>
            </a:srgbClr>
          </a:solidFill>
          <a:ln w="8204">
            <a:solidFill>
              <a:srgbClr val="FF6B00"/>
            </a:solidFill>
            <a:prstDash val="solid"/>
          </a:ln>
        </p:spPr>
        <p:txBody>
          <a:bodyPr/>
          <a:lstStyle/>
          <a:p>
            <a:endParaRPr lang="en-US"/>
          </a:p>
        </p:txBody>
      </p:sp>
      <p:sp>
        <p:nvSpPr>
          <p:cNvPr id="17" name="Shape 12"/>
          <p:cNvSpPr/>
          <p:nvPr/>
        </p:nvSpPr>
        <p:spPr>
          <a:xfrm>
            <a:off x="1284460" y="6494215"/>
            <a:ext cx="1619163" cy="578392"/>
          </a:xfrm>
          <a:prstGeom prst="roundRect">
            <a:avLst>
              <a:gd name="adj" fmla="val 13174"/>
            </a:avLst>
          </a:prstGeom>
          <a:solidFill>
            <a:srgbClr val="FF6B00"/>
          </a:solidFill>
          <a:ln w="8204">
            <a:solidFill>
              <a:srgbClr val="FF6B00"/>
            </a:solidFill>
            <a:prstDash val="solid"/>
          </a:ln>
        </p:spPr>
        <p:txBody>
          <a:bodyPr/>
          <a:lstStyle/>
          <a:p>
            <a:endParaRPr lang="en-US"/>
          </a:p>
        </p:txBody>
      </p:sp>
      <p:sp>
        <p:nvSpPr>
          <p:cNvPr id="18" name="Text 13"/>
          <p:cNvSpPr/>
          <p:nvPr/>
        </p:nvSpPr>
        <p:spPr>
          <a:xfrm>
            <a:off x="1445064" y="6635769"/>
            <a:ext cx="1297955" cy="333383"/>
          </a:xfrm>
          <a:prstGeom prst="rect">
            <a:avLst/>
          </a:prstGeom>
          <a:noFill/>
          <a:ln/>
        </p:spPr>
        <p:txBody>
          <a:bodyPr wrap="square" lIns="25400" tIns="25400" rIns="25400" bIns="25400" rtlCol="0" anchor="t">
            <a:normAutofit lnSpcReduction="10000"/>
          </a:bodyPr>
          <a:lstStyle/>
          <a:p>
            <a:pPr marL="0" indent="0" algn="ctr">
              <a:buNone/>
            </a:pPr>
            <a:r>
              <a:rPr lang="en-US" sz="1950" b="1" dirty="0">
                <a:solidFill>
                  <a:srgbClr val="0D1117"/>
                </a:solidFill>
                <a:latin typeface="Inter" pitchFamily="34" charset="0"/>
                <a:ea typeface="Inter" pitchFamily="34" charset="-122"/>
                <a:cs typeface="Inter" pitchFamily="34" charset="-120"/>
              </a:rPr>
              <a:t>AI Era</a:t>
            </a:r>
            <a:endParaRPr lang="en-US" sz="1950"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1157" y="6688166"/>
            <a:ext cx="438024" cy="190490"/>
          </a:xfrm>
          <a:prstGeom prst="rect">
            <a:avLst/>
          </a:prstGeom>
        </p:spPr>
      </p:pic>
      <p:sp>
        <p:nvSpPr>
          <p:cNvPr id="20" name="Text 14"/>
          <p:cNvSpPr/>
          <p:nvPr/>
        </p:nvSpPr>
        <p:spPr>
          <a:xfrm>
            <a:off x="3836716" y="6440375"/>
            <a:ext cx="4322054" cy="317041"/>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Company Brain</a:t>
            </a:r>
            <a:endParaRPr lang="en-US" sz="1800" dirty="0"/>
          </a:p>
        </p:txBody>
      </p:sp>
      <p:sp>
        <p:nvSpPr>
          <p:cNvPr id="21" name="Text 15"/>
          <p:cNvSpPr/>
          <p:nvPr/>
        </p:nvSpPr>
        <p:spPr>
          <a:xfrm>
            <a:off x="3836716" y="6757388"/>
            <a:ext cx="4322054" cy="407286"/>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0F6FC"/>
                </a:solidFill>
                <a:latin typeface="Inter" pitchFamily="34" charset="0"/>
                <a:ea typeface="Inter" pitchFamily="34" charset="-122"/>
                <a:cs typeface="Inter" pitchFamily="34" charset="-120"/>
              </a:rPr>
              <a:t>Organizational Intelligence</a:t>
            </a:r>
            <a:endParaRPr lang="en-US" sz="2400" dirty="0"/>
          </a:p>
        </p:txBody>
      </p:sp>
      <p:sp>
        <p:nvSpPr>
          <p:cNvPr id="22" name="Text 16"/>
          <p:cNvSpPr/>
          <p:nvPr/>
        </p:nvSpPr>
        <p:spPr>
          <a:xfrm>
            <a:off x="11007003" y="3844535"/>
            <a:ext cx="6856543"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Starting with</a:t>
            </a:r>
            <a:endParaRPr lang="en-US" sz="2025" dirty="0"/>
          </a:p>
        </p:txBody>
      </p:sp>
      <p:sp>
        <p:nvSpPr>
          <p:cNvPr id="23" name="Shape 17"/>
          <p:cNvSpPr/>
          <p:nvPr/>
        </p:nvSpPr>
        <p:spPr>
          <a:xfrm>
            <a:off x="11007003" y="4365754"/>
            <a:ext cx="6233221" cy="640948"/>
          </a:xfrm>
          <a:prstGeom prst="roundRect">
            <a:avLst>
              <a:gd name="adj" fmla="val 11889"/>
            </a:avLst>
          </a:prstGeom>
          <a:solidFill>
            <a:srgbClr val="FF6B00">
              <a:alpha val="10000"/>
            </a:srgbClr>
          </a:solidFill>
          <a:ln w="8204">
            <a:solidFill>
              <a:srgbClr val="FF6B00"/>
            </a:solidFill>
            <a:prstDash val="solid"/>
          </a:ln>
        </p:spPr>
        <p:txBody>
          <a:bodyPr/>
          <a:lstStyle/>
          <a:p>
            <a:endParaRPr lang="en-US"/>
          </a:p>
        </p:txBody>
      </p:sp>
      <p:sp>
        <p:nvSpPr>
          <p:cNvPr id="24" name="Text 18"/>
          <p:cNvSpPr/>
          <p:nvPr/>
        </p:nvSpPr>
        <p:spPr>
          <a:xfrm>
            <a:off x="11262857" y="4526358"/>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0F6FC"/>
                </a:solidFill>
                <a:latin typeface="Inter" pitchFamily="34" charset="0"/>
                <a:ea typeface="Inter" pitchFamily="34" charset="-122"/>
                <a:cs typeface="Inter" pitchFamily="34" charset="-120"/>
              </a:rPr>
              <a:t>AI-native teams</a:t>
            </a:r>
            <a:endParaRPr lang="en-US" sz="210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54536" y="5120919"/>
            <a:ext cx="209462" cy="209462"/>
          </a:xfrm>
          <a:prstGeom prst="rect">
            <a:avLst/>
          </a:prstGeom>
        </p:spPr>
      </p:pic>
      <p:sp>
        <p:nvSpPr>
          <p:cNvPr id="26" name="Shape 19"/>
          <p:cNvSpPr/>
          <p:nvPr/>
        </p:nvSpPr>
        <p:spPr>
          <a:xfrm>
            <a:off x="11007003" y="5444598"/>
            <a:ext cx="6233221" cy="640948"/>
          </a:xfrm>
          <a:prstGeom prst="roundRect">
            <a:avLst>
              <a:gd name="adj" fmla="val 11889"/>
            </a:avLst>
          </a:prstGeom>
          <a:solidFill>
            <a:srgbClr val="161B22"/>
          </a:solidFill>
          <a:ln w="8204">
            <a:solidFill>
              <a:srgbClr val="30363D"/>
            </a:solidFill>
            <a:prstDash val="solid"/>
          </a:ln>
        </p:spPr>
        <p:txBody>
          <a:bodyPr/>
          <a:lstStyle/>
          <a:p>
            <a:endParaRPr lang="en-US"/>
          </a:p>
        </p:txBody>
      </p:sp>
      <p:sp>
        <p:nvSpPr>
          <p:cNvPr id="27" name="Text 20"/>
          <p:cNvSpPr/>
          <p:nvPr/>
        </p:nvSpPr>
        <p:spPr>
          <a:xfrm>
            <a:off x="11262857" y="5605202"/>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Startups</a:t>
            </a:r>
            <a:endParaRPr lang="en-US" sz="2100"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254536" y="6199763"/>
            <a:ext cx="209462" cy="209462"/>
          </a:xfrm>
          <a:prstGeom prst="rect">
            <a:avLst/>
          </a:prstGeom>
        </p:spPr>
      </p:pic>
      <p:sp>
        <p:nvSpPr>
          <p:cNvPr id="29" name="Shape 21"/>
          <p:cNvSpPr/>
          <p:nvPr/>
        </p:nvSpPr>
        <p:spPr>
          <a:xfrm>
            <a:off x="11007003" y="6523442"/>
            <a:ext cx="6233221" cy="640948"/>
          </a:xfrm>
          <a:prstGeom prst="roundRect">
            <a:avLst>
              <a:gd name="adj" fmla="val 11889"/>
            </a:avLst>
          </a:prstGeom>
          <a:solidFill>
            <a:srgbClr val="161B22"/>
          </a:solidFill>
          <a:ln w="8204">
            <a:solidFill>
              <a:srgbClr val="30363D"/>
            </a:solidFill>
            <a:prstDash val="solid"/>
          </a:ln>
        </p:spPr>
        <p:txBody>
          <a:bodyPr/>
          <a:lstStyle/>
          <a:p>
            <a:endParaRPr lang="en-US"/>
          </a:p>
        </p:txBody>
      </p:sp>
      <p:sp>
        <p:nvSpPr>
          <p:cNvPr id="30" name="Text 22"/>
          <p:cNvSpPr/>
          <p:nvPr/>
        </p:nvSpPr>
        <p:spPr>
          <a:xfrm>
            <a:off x="11262857" y="6684046"/>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Enterprises</a:t>
            </a:r>
            <a:endParaRPr lang="en-US" sz="2100" dirty="0"/>
          </a:p>
        </p:txBody>
      </p:sp>
      <p:pic>
        <p:nvPicPr>
          <p:cNvPr id="3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254536" y="7278607"/>
            <a:ext cx="209462" cy="209462"/>
          </a:xfrm>
          <a:prstGeom prst="rect">
            <a:avLst/>
          </a:prstGeom>
        </p:spPr>
      </p:pic>
      <p:sp>
        <p:nvSpPr>
          <p:cNvPr id="32" name="Shape 23"/>
          <p:cNvSpPr/>
          <p:nvPr/>
        </p:nvSpPr>
        <p:spPr>
          <a:xfrm>
            <a:off x="11007003" y="7602286"/>
            <a:ext cx="6233221" cy="640948"/>
          </a:xfrm>
          <a:prstGeom prst="roundRect">
            <a:avLst>
              <a:gd name="adj" fmla="val 11889"/>
            </a:avLst>
          </a:prstGeom>
          <a:solidFill>
            <a:srgbClr val="161B22"/>
          </a:solidFill>
          <a:ln w="8204">
            <a:solidFill>
              <a:srgbClr val="30363D"/>
            </a:solidFill>
            <a:prstDash val="solid"/>
          </a:ln>
        </p:spPr>
        <p:txBody>
          <a:bodyPr/>
          <a:lstStyle/>
          <a:p>
            <a:endParaRPr lang="en-US"/>
          </a:p>
        </p:txBody>
      </p:sp>
      <p:sp>
        <p:nvSpPr>
          <p:cNvPr id="33" name="Text 24"/>
          <p:cNvSpPr/>
          <p:nvPr/>
        </p:nvSpPr>
        <p:spPr>
          <a:xfrm>
            <a:off x="11262857" y="7762890"/>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Every knowledge organization</a:t>
            </a:r>
            <a:endParaRPr lang="en-US" sz="2100" dirty="0"/>
          </a:p>
        </p:txBody>
      </p:sp>
      <p:sp>
        <p:nvSpPr>
          <p:cNvPr id="34" name="Text 25"/>
          <p:cNvSpPr/>
          <p:nvPr/>
        </p:nvSpPr>
        <p:spPr>
          <a:xfrm>
            <a:off x="1047694" y="8970326"/>
            <a:ext cx="17811782" cy="497532"/>
          </a:xfrm>
          <a:prstGeom prst="rect">
            <a:avLst/>
          </a:prstGeom>
          <a:noFill/>
          <a:ln/>
        </p:spPr>
        <p:txBody>
          <a:bodyPr wrap="square" lIns="25400" tIns="25400" rIns="25400" bIns="25400" rtlCol="0" anchor="t">
            <a:normAutofit/>
          </a:bodyPr>
          <a:lstStyle/>
          <a:p>
            <a:pPr marL="0" indent="0" algn="l">
              <a:buNone/>
            </a:pPr>
            <a:r>
              <a:rPr lang="en-US" sz="2850" b="1" kern="0" spc="-57" dirty="0">
                <a:solidFill>
                  <a:srgbClr val="F0F6FC"/>
                </a:solidFill>
                <a:latin typeface="Space Grotesk" pitchFamily="34" charset="0"/>
                <a:ea typeface="Space Grotesk" pitchFamily="34" charset="-122"/>
                <a:cs typeface="Space Grotesk" pitchFamily="34" charset="-120"/>
              </a:rPr>
              <a:t>As AI becomes a worker inside companies, </a:t>
            </a:r>
            <a:r>
              <a:rPr lang="en-US" sz="2850" b="1" kern="0" spc="-57" dirty="0">
                <a:solidFill>
                  <a:srgbClr val="FF6B00"/>
                </a:solidFill>
                <a:latin typeface="Space Grotesk" pitchFamily="34" charset="0"/>
                <a:ea typeface="Space Grotesk" pitchFamily="34" charset="-122"/>
                <a:cs typeface="Space Grotesk" pitchFamily="34" charset="-120"/>
              </a:rPr>
              <a:t>every company will need a Brain.</a:t>
            </a:r>
            <a:endParaRPr lang="en-US" sz="2850" dirty="0"/>
          </a:p>
        </p:txBody>
      </p:sp>
      <p:pic>
        <p:nvPicPr>
          <p:cNvPr id="35" name="Picture 34">
            <a:extLst>
              <a:ext uri="{FF2B5EF4-FFF2-40B4-BE49-F238E27FC236}">
                <a16:creationId xmlns:a16="http://schemas.microsoft.com/office/drawing/2014/main" id="{199DF2A0-F438-AE9C-2459-3AEC178AE780}"/>
              </a:ext>
            </a:extLst>
          </p:cNvPr>
          <p:cNvPicPr>
            <a:picLocks noChangeAspect="1"/>
          </p:cNvPicPr>
          <p:nvPr/>
        </p:nvPicPr>
        <p:blipFill>
          <a:blip r:embed="rId10"/>
          <a:stretch>
            <a:fillRect/>
          </a:stretch>
        </p:blipFill>
        <p:spPr>
          <a:xfrm>
            <a:off x="15314892" y="462799"/>
            <a:ext cx="2293110" cy="12887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704787"/>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MARKET OPPORTUNITY</a:t>
            </a:r>
            <a:endParaRPr lang="en-US" sz="1800" dirty="0"/>
          </a:p>
        </p:txBody>
      </p:sp>
      <p:sp>
        <p:nvSpPr>
          <p:cNvPr id="3" name="Text 1"/>
          <p:cNvSpPr/>
          <p:nvPr/>
        </p:nvSpPr>
        <p:spPr>
          <a:xfrm>
            <a:off x="1047694" y="1144221"/>
            <a:ext cx="17811782" cy="694431"/>
          </a:xfrm>
          <a:prstGeom prst="rect">
            <a:avLst/>
          </a:prstGeom>
          <a:noFill/>
          <a:ln/>
        </p:spPr>
        <p:txBody>
          <a:bodyPr wrap="square" lIns="25400" tIns="25400" rIns="25400" bIns="25400" rtlCol="0" anchor="t">
            <a:normAutofit/>
          </a:bodyPr>
          <a:lstStyle/>
          <a:p>
            <a:pPr marL="0" indent="0" algn="l">
              <a:buNone/>
            </a:pPr>
            <a:r>
              <a:rPr lang="en-US" sz="4050" b="1" kern="0" spc="-81" dirty="0">
                <a:solidFill>
                  <a:srgbClr val="F0F6FC"/>
                </a:solidFill>
                <a:latin typeface="Space Grotesk" pitchFamily="34" charset="0"/>
                <a:ea typeface="Space Grotesk" pitchFamily="34" charset="-122"/>
                <a:cs typeface="Space Grotesk" pitchFamily="34" charset="-120"/>
              </a:rPr>
              <a:t>AI workers create a new infrastructure market.</a:t>
            </a:r>
            <a:endParaRPr lang="en-US" sz="4050" dirty="0"/>
          </a:p>
        </p:txBody>
      </p:sp>
      <p:sp>
        <p:nvSpPr>
          <p:cNvPr id="4" name="Text 2"/>
          <p:cNvSpPr/>
          <p:nvPr/>
        </p:nvSpPr>
        <p:spPr>
          <a:xfrm>
            <a:off x="1047694" y="3943369"/>
            <a:ext cx="904316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Three forces converging</a:t>
            </a:r>
            <a:endParaRPr lang="en-US" sz="1800" dirty="0"/>
          </a:p>
        </p:txBody>
      </p:sp>
      <p:sp>
        <p:nvSpPr>
          <p:cNvPr id="5" name="Shape 3"/>
          <p:cNvSpPr/>
          <p:nvPr/>
        </p:nvSpPr>
        <p:spPr>
          <a:xfrm>
            <a:off x="1047694" y="4393700"/>
            <a:ext cx="5530229" cy="606978"/>
          </a:xfrm>
          <a:prstGeom prst="roundRect">
            <a:avLst>
              <a:gd name="adj" fmla="val 12554"/>
            </a:avLst>
          </a:prstGeom>
          <a:solidFill>
            <a:srgbClr val="161B22"/>
          </a:solidFill>
          <a:ln w="8204">
            <a:solidFill>
              <a:srgbClr val="30363D"/>
            </a:solidFill>
            <a:prstDash val="solid"/>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6388" y="4554193"/>
            <a:ext cx="361879" cy="228562"/>
          </a:xfrm>
          <a:prstGeom prst="rect">
            <a:avLst/>
          </a:prstGeom>
        </p:spPr>
      </p:pic>
      <p:sp>
        <p:nvSpPr>
          <p:cNvPr id="7" name="Text 4"/>
          <p:cNvSpPr/>
          <p:nvPr/>
        </p:nvSpPr>
        <p:spPr>
          <a:xfrm>
            <a:off x="1741584" y="4557654"/>
            <a:ext cx="2476807"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Enterprise AI adoption</a:t>
            </a:r>
            <a:endParaRPr lang="en-US" sz="1800" dirty="0"/>
          </a:p>
        </p:txBody>
      </p:sp>
      <p:sp>
        <p:nvSpPr>
          <p:cNvPr id="8" name="Shape 5"/>
          <p:cNvSpPr/>
          <p:nvPr/>
        </p:nvSpPr>
        <p:spPr>
          <a:xfrm>
            <a:off x="1047694" y="5133995"/>
            <a:ext cx="5530229" cy="606978"/>
          </a:xfrm>
          <a:prstGeom prst="roundRect">
            <a:avLst>
              <a:gd name="adj" fmla="val 12554"/>
            </a:avLst>
          </a:prstGeom>
          <a:solidFill>
            <a:srgbClr val="161B22"/>
          </a:solidFill>
          <a:ln w="8204">
            <a:solidFill>
              <a:srgbClr val="30363D"/>
            </a:solidFill>
            <a:prstDash val="solid"/>
          </a:ln>
        </p:spPr>
        <p:txBody>
          <a:bodyPr/>
          <a:lstStyle/>
          <a:p>
            <a:endParaRPr lang="en-US"/>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6388" y="5294488"/>
            <a:ext cx="361879" cy="228562"/>
          </a:xfrm>
          <a:prstGeom prst="rect">
            <a:avLst/>
          </a:prstGeom>
        </p:spPr>
      </p:pic>
      <p:sp>
        <p:nvSpPr>
          <p:cNvPr id="10" name="Text 6"/>
          <p:cNvSpPr/>
          <p:nvPr/>
        </p:nvSpPr>
        <p:spPr>
          <a:xfrm>
            <a:off x="1741584" y="5297949"/>
            <a:ext cx="1089667"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AI agents</a:t>
            </a:r>
            <a:endParaRPr lang="en-US" sz="1800" dirty="0"/>
          </a:p>
        </p:txBody>
      </p:sp>
      <p:sp>
        <p:nvSpPr>
          <p:cNvPr id="11" name="Shape 7"/>
          <p:cNvSpPr/>
          <p:nvPr/>
        </p:nvSpPr>
        <p:spPr>
          <a:xfrm>
            <a:off x="1047694" y="5874290"/>
            <a:ext cx="5530229" cy="606978"/>
          </a:xfrm>
          <a:prstGeom prst="roundRect">
            <a:avLst>
              <a:gd name="adj" fmla="val 12554"/>
            </a:avLst>
          </a:prstGeom>
          <a:solidFill>
            <a:srgbClr val="161B22"/>
          </a:solidFill>
          <a:ln w="8204">
            <a:solidFill>
              <a:srgbClr val="30363D"/>
            </a:solidFill>
            <a:prstDash val="solid"/>
          </a:ln>
        </p:spPr>
        <p:txBody>
          <a:bodyPr/>
          <a:lstStyle/>
          <a:p>
            <a:endParaRPr lang="en-US"/>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6388" y="6034783"/>
            <a:ext cx="361879" cy="228562"/>
          </a:xfrm>
          <a:prstGeom prst="rect">
            <a:avLst/>
          </a:prstGeom>
        </p:spPr>
      </p:pic>
      <p:sp>
        <p:nvSpPr>
          <p:cNvPr id="13" name="Text 8"/>
          <p:cNvSpPr/>
          <p:nvPr/>
        </p:nvSpPr>
        <p:spPr>
          <a:xfrm>
            <a:off x="1741584" y="6038244"/>
            <a:ext cx="2964853"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Need for company context</a:t>
            </a:r>
            <a:endParaRPr lang="en-US" sz="18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34967" y="4532657"/>
            <a:ext cx="895276" cy="1809653"/>
          </a:xfrm>
          <a:prstGeom prst="rect">
            <a:avLst/>
          </a:prstGeom>
        </p:spPr>
      </p:pic>
      <p:sp>
        <p:nvSpPr>
          <p:cNvPr id="15" name="Shape 9"/>
          <p:cNvSpPr/>
          <p:nvPr/>
        </p:nvSpPr>
        <p:spPr>
          <a:xfrm>
            <a:off x="7587287" y="4637131"/>
            <a:ext cx="1681463" cy="1600576"/>
          </a:xfrm>
          <a:prstGeom prst="roundRect">
            <a:avLst>
              <a:gd name="adj" fmla="val 4761"/>
            </a:avLst>
          </a:prstGeom>
          <a:solidFill>
            <a:srgbClr val="FF6B00">
              <a:alpha val="10000"/>
            </a:srgbClr>
          </a:solidFill>
          <a:ln w="8204">
            <a:solidFill>
              <a:srgbClr val="FF6B00"/>
            </a:solidFill>
            <a:prstDash val="solid"/>
          </a:ln>
        </p:spPr>
        <p:txBody>
          <a:bodyPr/>
          <a:lstStyle/>
          <a:p>
            <a:endParaRPr lang="en-US"/>
          </a:p>
        </p:txBody>
      </p:sp>
      <p:sp>
        <p:nvSpPr>
          <p:cNvPr id="17" name="Text 10"/>
          <p:cNvSpPr/>
          <p:nvPr/>
        </p:nvSpPr>
        <p:spPr>
          <a:xfrm>
            <a:off x="7804926" y="5363710"/>
            <a:ext cx="1246187" cy="694431"/>
          </a:xfrm>
          <a:prstGeom prst="rect">
            <a:avLst/>
          </a:prstGeom>
          <a:noFill/>
          <a:ln/>
        </p:spPr>
        <p:txBody>
          <a:bodyPr wrap="square" lIns="25400" tIns="25400" rIns="25400" bIns="25400" rtlCol="0" anchor="t">
            <a:normAutofit/>
          </a:bodyPr>
          <a:lstStyle/>
          <a:p>
            <a:pPr marL="0" indent="0" algn="ctr">
              <a:buNone/>
            </a:pPr>
            <a:r>
              <a:rPr lang="en-US" sz="2025" b="1" dirty="0">
                <a:solidFill>
                  <a:srgbClr val="F0F6FC"/>
                </a:solidFill>
                <a:latin typeface="Space Grotesk" pitchFamily="34" charset="0"/>
                <a:ea typeface="Space Grotesk" pitchFamily="34" charset="-122"/>
                <a:cs typeface="Space Grotesk" pitchFamily="34" charset="-120"/>
              </a:rPr>
              <a:t>Company Brain</a:t>
            </a:r>
            <a:endParaRPr lang="en-US" sz="2025" dirty="0"/>
          </a:p>
        </p:txBody>
      </p:sp>
      <p:sp>
        <p:nvSpPr>
          <p:cNvPr id="18" name="Shape 11"/>
          <p:cNvSpPr/>
          <p:nvPr/>
        </p:nvSpPr>
        <p:spPr>
          <a:xfrm>
            <a:off x="9802148" y="3320624"/>
            <a:ext cx="7438075" cy="1849776"/>
          </a:xfrm>
          <a:prstGeom prst="roundRect">
            <a:avLst>
              <a:gd name="adj" fmla="val 4119"/>
            </a:avLst>
          </a:prstGeom>
          <a:solidFill>
            <a:srgbClr val="FF6B00">
              <a:alpha val="10000"/>
            </a:srgbClr>
          </a:solidFill>
          <a:ln w="8204">
            <a:solidFill>
              <a:srgbClr val="FF6B00"/>
            </a:solidFill>
            <a:prstDash val="solid"/>
          </a:ln>
        </p:spPr>
        <p:txBody>
          <a:bodyPr/>
          <a:lstStyle/>
          <a:p>
            <a:endParaRPr lang="en-US"/>
          </a:p>
        </p:txBody>
      </p:sp>
      <p:sp>
        <p:nvSpPr>
          <p:cNvPr id="19" name="Text 12"/>
          <p:cNvSpPr/>
          <p:nvPr/>
        </p:nvSpPr>
        <p:spPr>
          <a:xfrm>
            <a:off x="10134159" y="3762238"/>
            <a:ext cx="1378641" cy="530348"/>
          </a:xfrm>
          <a:prstGeom prst="rect">
            <a:avLst/>
          </a:prstGeom>
          <a:noFill/>
          <a:ln/>
        </p:spPr>
        <p:txBody>
          <a:bodyPr wrap="square" lIns="25400" tIns="25400" rIns="25400" bIns="25400" rtlCol="0" anchor="t">
            <a:normAutofit/>
          </a:bodyPr>
          <a:lstStyle/>
          <a:p>
            <a:pPr marL="0" indent="0" algn="l">
              <a:buNone/>
            </a:pPr>
            <a:r>
              <a:rPr lang="en-US" sz="3000" b="1" dirty="0">
                <a:solidFill>
                  <a:srgbClr val="8B949E"/>
                </a:solidFill>
                <a:latin typeface="Space Grotesk" pitchFamily="34" charset="0"/>
                <a:ea typeface="Space Grotesk" pitchFamily="34" charset="-122"/>
                <a:cs typeface="Space Grotesk" pitchFamily="34" charset="-120"/>
              </a:rPr>
              <a:t>$7.84B</a:t>
            </a:r>
            <a:endParaRPr lang="en-US" sz="3000" dirty="0"/>
          </a:p>
        </p:txBody>
      </p:sp>
      <p:sp>
        <p:nvSpPr>
          <p:cNvPr id="20" name="Text 13"/>
          <p:cNvSpPr/>
          <p:nvPr/>
        </p:nvSpPr>
        <p:spPr>
          <a:xfrm>
            <a:off x="11539758" y="3918116"/>
            <a:ext cx="634850"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2025</a:t>
            </a:r>
            <a:endParaRPr lang="en-US" sz="180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250699" y="3987338"/>
            <a:ext cx="380980" cy="152289"/>
          </a:xfrm>
          <a:prstGeom prst="rect">
            <a:avLst/>
          </a:prstGeom>
        </p:spPr>
      </p:pic>
      <p:sp>
        <p:nvSpPr>
          <p:cNvPr id="22" name="Text 14"/>
          <p:cNvSpPr/>
          <p:nvPr/>
        </p:nvSpPr>
        <p:spPr>
          <a:xfrm>
            <a:off x="12783967" y="3614563"/>
            <a:ext cx="2318604" cy="719043"/>
          </a:xfrm>
          <a:prstGeom prst="rect">
            <a:avLst/>
          </a:prstGeom>
          <a:noFill/>
          <a:ln/>
        </p:spPr>
        <p:txBody>
          <a:bodyPr wrap="square" lIns="25400" tIns="25400" rIns="25400" bIns="25400" rtlCol="0" anchor="t">
            <a:normAutofit/>
          </a:bodyPr>
          <a:lstStyle/>
          <a:p>
            <a:pPr marL="0" indent="0" algn="l">
              <a:buNone/>
            </a:pPr>
            <a:r>
              <a:rPr lang="en-US" sz="4200" b="1" dirty="0">
                <a:solidFill>
                  <a:srgbClr val="FF6B00"/>
                </a:solidFill>
                <a:latin typeface="Space Grotesk" pitchFamily="34" charset="0"/>
                <a:ea typeface="Space Grotesk" pitchFamily="34" charset="-122"/>
                <a:cs typeface="Space Grotesk" pitchFamily="34" charset="-120"/>
              </a:rPr>
              <a:t>$52.62B</a:t>
            </a:r>
            <a:endParaRPr lang="en-US" sz="4200" dirty="0"/>
          </a:p>
        </p:txBody>
      </p:sp>
      <p:sp>
        <p:nvSpPr>
          <p:cNvPr id="23" name="Text 15"/>
          <p:cNvSpPr/>
          <p:nvPr/>
        </p:nvSpPr>
        <p:spPr>
          <a:xfrm>
            <a:off x="15044078" y="3918116"/>
            <a:ext cx="64523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2030</a:t>
            </a:r>
            <a:endParaRPr lang="en-US" sz="1800" dirty="0"/>
          </a:p>
        </p:txBody>
      </p:sp>
      <p:sp>
        <p:nvSpPr>
          <p:cNvPr id="24" name="Shape 16"/>
          <p:cNvSpPr/>
          <p:nvPr/>
        </p:nvSpPr>
        <p:spPr>
          <a:xfrm>
            <a:off x="10134159" y="4447796"/>
            <a:ext cx="1546992" cy="428666"/>
          </a:xfrm>
          <a:prstGeom prst="roundRect">
            <a:avLst>
              <a:gd name="adj" fmla="val 50000"/>
            </a:avLst>
          </a:prstGeom>
          <a:ln w="8204">
            <a:solidFill>
              <a:srgbClr val="FF6B00"/>
            </a:solidFill>
            <a:prstDash val="solid"/>
          </a:ln>
        </p:spPr>
        <p:txBody>
          <a:bodyPr/>
          <a:lstStyle/>
          <a:p>
            <a:endParaRPr lang="en-US"/>
          </a:p>
        </p:txBody>
      </p:sp>
      <p:sp>
        <p:nvSpPr>
          <p:cNvPr id="25" name="Text 17"/>
          <p:cNvSpPr/>
          <p:nvPr/>
        </p:nvSpPr>
        <p:spPr>
          <a:xfrm>
            <a:off x="10294763" y="4522675"/>
            <a:ext cx="1301984" cy="31700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46% CAGR</a:t>
            </a:r>
            <a:endParaRPr lang="en-US" sz="1800" dirty="0"/>
          </a:p>
        </p:txBody>
      </p:sp>
      <p:sp>
        <p:nvSpPr>
          <p:cNvPr id="26" name="Text 18"/>
          <p:cNvSpPr/>
          <p:nvPr/>
        </p:nvSpPr>
        <p:spPr>
          <a:xfrm>
            <a:off x="11814468" y="4522658"/>
            <a:ext cx="519532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AI agents market, MarketsandMarkets 2025</a:t>
            </a:r>
            <a:endParaRPr lang="en-US" sz="1800" dirty="0"/>
          </a:p>
        </p:txBody>
      </p:sp>
      <p:sp>
        <p:nvSpPr>
          <p:cNvPr id="27" name="Text 19"/>
          <p:cNvSpPr/>
          <p:nvPr/>
        </p:nvSpPr>
        <p:spPr>
          <a:xfrm>
            <a:off x="9802148" y="5417934"/>
            <a:ext cx="818188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Every AI agent needs</a:t>
            </a:r>
            <a:endParaRPr lang="en-US" sz="1800" dirty="0"/>
          </a:p>
        </p:txBody>
      </p:sp>
      <p:sp>
        <p:nvSpPr>
          <p:cNvPr id="28" name="Shape 20"/>
          <p:cNvSpPr/>
          <p:nvPr/>
        </p:nvSpPr>
        <p:spPr>
          <a:xfrm>
            <a:off x="9802148" y="5830192"/>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29"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1742" y="5991968"/>
            <a:ext cx="209462" cy="209462"/>
          </a:xfrm>
          <a:prstGeom prst="rect">
            <a:avLst/>
          </a:prstGeom>
        </p:spPr>
      </p:pic>
      <p:sp>
        <p:nvSpPr>
          <p:cNvPr id="30" name="Text 21"/>
          <p:cNvSpPr/>
          <p:nvPr/>
        </p:nvSpPr>
        <p:spPr>
          <a:xfrm>
            <a:off x="10305421" y="5971714"/>
            <a:ext cx="955067"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Context</a:t>
            </a:r>
            <a:endParaRPr lang="en-US" sz="1875" dirty="0"/>
          </a:p>
        </p:txBody>
      </p:sp>
      <p:sp>
        <p:nvSpPr>
          <p:cNvPr id="31" name="Shape 22"/>
          <p:cNvSpPr/>
          <p:nvPr/>
        </p:nvSpPr>
        <p:spPr>
          <a:xfrm>
            <a:off x="13587844" y="5830192"/>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32"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767438" y="5991968"/>
            <a:ext cx="209462" cy="209462"/>
          </a:xfrm>
          <a:prstGeom prst="rect">
            <a:avLst/>
          </a:prstGeom>
        </p:spPr>
      </p:pic>
      <p:sp>
        <p:nvSpPr>
          <p:cNvPr id="33" name="Text 23"/>
          <p:cNvSpPr/>
          <p:nvPr/>
        </p:nvSpPr>
        <p:spPr>
          <a:xfrm>
            <a:off x="14091117" y="5971714"/>
            <a:ext cx="1008651"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Memory</a:t>
            </a:r>
            <a:endParaRPr lang="en-US" sz="1875" dirty="0"/>
          </a:p>
        </p:txBody>
      </p:sp>
      <p:sp>
        <p:nvSpPr>
          <p:cNvPr id="34" name="Shape 24"/>
          <p:cNvSpPr/>
          <p:nvPr/>
        </p:nvSpPr>
        <p:spPr>
          <a:xfrm>
            <a:off x="9802148" y="6533697"/>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35"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981742" y="6695473"/>
            <a:ext cx="209462" cy="209462"/>
          </a:xfrm>
          <a:prstGeom prst="rect">
            <a:avLst/>
          </a:prstGeom>
        </p:spPr>
      </p:pic>
      <p:sp>
        <p:nvSpPr>
          <p:cNvPr id="36" name="Text 25"/>
          <p:cNvSpPr/>
          <p:nvPr/>
        </p:nvSpPr>
        <p:spPr>
          <a:xfrm>
            <a:off x="10305421" y="6675219"/>
            <a:ext cx="2452963"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Company knowledge</a:t>
            </a:r>
            <a:endParaRPr lang="en-US" sz="1875" dirty="0"/>
          </a:p>
        </p:txBody>
      </p:sp>
      <p:sp>
        <p:nvSpPr>
          <p:cNvPr id="37" name="Shape 26"/>
          <p:cNvSpPr/>
          <p:nvPr/>
        </p:nvSpPr>
        <p:spPr>
          <a:xfrm>
            <a:off x="13587844" y="6533697"/>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38"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767438" y="6695473"/>
            <a:ext cx="209462" cy="209462"/>
          </a:xfrm>
          <a:prstGeom prst="rect">
            <a:avLst/>
          </a:prstGeom>
        </p:spPr>
      </p:pic>
      <p:sp>
        <p:nvSpPr>
          <p:cNvPr id="39" name="Text 27"/>
          <p:cNvSpPr/>
          <p:nvPr/>
        </p:nvSpPr>
        <p:spPr>
          <a:xfrm>
            <a:off x="14091117" y="6675219"/>
            <a:ext cx="1262852"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Trust layer</a:t>
            </a:r>
            <a:endParaRPr lang="en-US" sz="1875" dirty="0"/>
          </a:p>
        </p:txBody>
      </p:sp>
      <p:sp>
        <p:nvSpPr>
          <p:cNvPr id="40" name="Shape 28"/>
          <p:cNvSpPr/>
          <p:nvPr/>
        </p:nvSpPr>
        <p:spPr>
          <a:xfrm>
            <a:off x="1047694" y="8643186"/>
            <a:ext cx="2248318" cy="919889"/>
          </a:xfrm>
          <a:prstGeom prst="roundRect">
            <a:avLst>
              <a:gd name="adj" fmla="val 8284"/>
            </a:avLst>
          </a:prstGeom>
          <a:solidFill>
            <a:srgbClr val="161B22"/>
          </a:solidFill>
          <a:ln w="8204">
            <a:solidFill>
              <a:srgbClr val="30363D"/>
            </a:solidFill>
            <a:prstDash val="solid"/>
          </a:ln>
        </p:spPr>
        <p:txBody>
          <a:bodyPr/>
          <a:lstStyle/>
          <a:p>
            <a:endParaRPr lang="en-US"/>
          </a:p>
        </p:txBody>
      </p:sp>
      <p:sp>
        <p:nvSpPr>
          <p:cNvPr id="41" name="Text 29"/>
          <p:cNvSpPr/>
          <p:nvPr/>
        </p:nvSpPr>
        <p:spPr>
          <a:xfrm>
            <a:off x="1265360" y="8803679"/>
            <a:ext cx="199428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Software</a:t>
            </a:r>
            <a:endParaRPr lang="en-US" sz="1800" dirty="0"/>
          </a:p>
        </p:txBody>
      </p:sp>
      <p:sp>
        <p:nvSpPr>
          <p:cNvPr id="42" name="Text 30"/>
          <p:cNvSpPr/>
          <p:nvPr/>
        </p:nvSpPr>
        <p:spPr>
          <a:xfrm>
            <a:off x="1265360" y="9082619"/>
            <a:ext cx="1994284" cy="358061"/>
          </a:xfrm>
          <a:prstGeom prst="rect">
            <a:avLst/>
          </a:prstGeom>
          <a:noFill/>
          <a:ln/>
        </p:spPr>
        <p:txBody>
          <a:bodyPr wrap="square" lIns="25400" tIns="25400" rIns="25400" bIns="25400" rtlCol="0" anchor="t">
            <a:normAutofit/>
          </a:bodyPr>
          <a:lstStyle/>
          <a:p>
            <a:pPr marL="0" indent="0" algn="l">
              <a:buNone/>
            </a:pPr>
            <a:r>
              <a:rPr lang="en-US" sz="1950" b="1" dirty="0">
                <a:solidFill>
                  <a:srgbClr val="F0F6FC"/>
                </a:solidFill>
                <a:latin typeface="Space Grotesk" pitchFamily="34" charset="0"/>
                <a:ea typeface="Space Grotesk" pitchFamily="34" charset="-122"/>
                <a:cs typeface="Space Grotesk" pitchFamily="34" charset="-120"/>
              </a:rPr>
              <a:t>$467B by 2030</a:t>
            </a:r>
            <a:endParaRPr lang="en-US" sz="1950" dirty="0"/>
          </a:p>
        </p:txBody>
      </p:sp>
      <p:sp>
        <p:nvSpPr>
          <p:cNvPr id="43" name="Shape 31"/>
          <p:cNvSpPr/>
          <p:nvPr/>
        </p:nvSpPr>
        <p:spPr>
          <a:xfrm>
            <a:off x="3467401" y="8643186"/>
            <a:ext cx="2251779" cy="919889"/>
          </a:xfrm>
          <a:prstGeom prst="roundRect">
            <a:avLst>
              <a:gd name="adj" fmla="val 8284"/>
            </a:avLst>
          </a:prstGeom>
          <a:solidFill>
            <a:srgbClr val="161B22"/>
          </a:solidFill>
          <a:ln w="8204">
            <a:solidFill>
              <a:srgbClr val="30363D"/>
            </a:solidFill>
            <a:prstDash val="solid"/>
          </a:ln>
        </p:spPr>
        <p:txBody>
          <a:bodyPr/>
          <a:lstStyle/>
          <a:p>
            <a:endParaRPr lang="en-US"/>
          </a:p>
        </p:txBody>
      </p:sp>
      <p:sp>
        <p:nvSpPr>
          <p:cNvPr id="44" name="Text 32"/>
          <p:cNvSpPr/>
          <p:nvPr/>
        </p:nvSpPr>
        <p:spPr>
          <a:xfrm>
            <a:off x="3685067" y="8803679"/>
            <a:ext cx="199809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Agents</a:t>
            </a:r>
            <a:endParaRPr lang="en-US" sz="1800" dirty="0"/>
          </a:p>
        </p:txBody>
      </p:sp>
      <p:sp>
        <p:nvSpPr>
          <p:cNvPr id="45" name="Text 33"/>
          <p:cNvSpPr/>
          <p:nvPr/>
        </p:nvSpPr>
        <p:spPr>
          <a:xfrm>
            <a:off x="3685067" y="9082619"/>
            <a:ext cx="1998092" cy="358061"/>
          </a:xfrm>
          <a:prstGeom prst="rect">
            <a:avLst/>
          </a:prstGeom>
          <a:noFill/>
          <a:ln/>
        </p:spPr>
        <p:txBody>
          <a:bodyPr wrap="square" lIns="25400" tIns="25400" rIns="25400" bIns="25400" rtlCol="0" anchor="t">
            <a:normAutofit/>
          </a:bodyPr>
          <a:lstStyle/>
          <a:p>
            <a:pPr marL="0" indent="0" algn="l">
              <a:buNone/>
            </a:pPr>
            <a:r>
              <a:rPr lang="en-US" sz="1950" b="1" dirty="0">
                <a:solidFill>
                  <a:srgbClr val="F0F6FC"/>
                </a:solidFill>
                <a:latin typeface="Space Grotesk" pitchFamily="34" charset="0"/>
                <a:ea typeface="Space Grotesk" pitchFamily="34" charset="-122"/>
                <a:cs typeface="Space Grotesk" pitchFamily="34" charset="-120"/>
              </a:rPr>
              <a:t>$52B+ by 2030</a:t>
            </a:r>
            <a:endParaRPr lang="en-US" sz="1950" dirty="0"/>
          </a:p>
        </p:txBody>
      </p:sp>
      <p:sp>
        <p:nvSpPr>
          <p:cNvPr id="46" name="Shape 34"/>
          <p:cNvSpPr/>
          <p:nvPr/>
        </p:nvSpPr>
        <p:spPr>
          <a:xfrm>
            <a:off x="5890570" y="8643186"/>
            <a:ext cx="2632630" cy="919889"/>
          </a:xfrm>
          <a:prstGeom prst="roundRect">
            <a:avLst>
              <a:gd name="adj" fmla="val 8284"/>
            </a:avLst>
          </a:prstGeom>
          <a:solidFill>
            <a:srgbClr val="161B22"/>
          </a:solidFill>
          <a:ln w="8204">
            <a:solidFill>
              <a:srgbClr val="30363D"/>
            </a:solidFill>
            <a:prstDash val="solid"/>
          </a:ln>
        </p:spPr>
        <p:txBody>
          <a:bodyPr/>
          <a:lstStyle/>
          <a:p>
            <a:endParaRPr lang="en-US"/>
          </a:p>
        </p:txBody>
      </p:sp>
      <p:sp>
        <p:nvSpPr>
          <p:cNvPr id="47" name="Text 35"/>
          <p:cNvSpPr/>
          <p:nvPr/>
        </p:nvSpPr>
        <p:spPr>
          <a:xfrm>
            <a:off x="6108236" y="8803679"/>
            <a:ext cx="2417028"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Knowledge Systems</a:t>
            </a:r>
            <a:endParaRPr lang="en-US" sz="1800" dirty="0"/>
          </a:p>
        </p:txBody>
      </p:sp>
      <p:sp>
        <p:nvSpPr>
          <p:cNvPr id="48" name="Text 36"/>
          <p:cNvSpPr/>
          <p:nvPr/>
        </p:nvSpPr>
        <p:spPr>
          <a:xfrm>
            <a:off x="6108236" y="9082619"/>
            <a:ext cx="1195680" cy="358061"/>
          </a:xfrm>
          <a:prstGeom prst="rect">
            <a:avLst/>
          </a:prstGeom>
          <a:noFill/>
          <a:ln/>
        </p:spPr>
        <p:txBody>
          <a:bodyPr wrap="square" lIns="25400" tIns="25400" rIns="25400" bIns="25400" rtlCol="0" anchor="t">
            <a:normAutofit/>
          </a:bodyPr>
          <a:lstStyle/>
          <a:p>
            <a:pPr marL="0" indent="0" algn="l">
              <a:buNone/>
            </a:pPr>
            <a:r>
              <a:rPr lang="en-US" sz="1950" b="1" dirty="0">
                <a:solidFill>
                  <a:srgbClr val="F0F6FC"/>
                </a:solidFill>
                <a:latin typeface="Space Grotesk" pitchFamily="34" charset="0"/>
                <a:ea typeface="Space Grotesk" pitchFamily="34" charset="-122"/>
                <a:cs typeface="Space Grotesk" pitchFamily="34" charset="-120"/>
              </a:rPr>
              <a:t>Emerging</a:t>
            </a:r>
            <a:endParaRPr lang="en-US" sz="1950" dirty="0"/>
          </a:p>
        </p:txBody>
      </p:sp>
      <p:pic>
        <p:nvPicPr>
          <p:cNvPr id="49" name="Image 10"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694590" y="9017371"/>
            <a:ext cx="438024" cy="171390"/>
          </a:xfrm>
          <a:prstGeom prst="rect">
            <a:avLst/>
          </a:prstGeom>
        </p:spPr>
      </p:pic>
      <p:sp>
        <p:nvSpPr>
          <p:cNvPr id="50" name="Shape 37"/>
          <p:cNvSpPr/>
          <p:nvPr/>
        </p:nvSpPr>
        <p:spPr>
          <a:xfrm>
            <a:off x="9304003" y="8624085"/>
            <a:ext cx="7936220" cy="958089"/>
          </a:xfrm>
          <a:prstGeom prst="roundRect">
            <a:avLst>
              <a:gd name="adj" fmla="val 7953"/>
            </a:avLst>
          </a:prstGeom>
          <a:solidFill>
            <a:srgbClr val="FF6B00">
              <a:alpha val="10000"/>
            </a:srgbClr>
          </a:solidFill>
          <a:ln w="8204">
            <a:solidFill>
              <a:srgbClr val="FF6B00"/>
            </a:solidFill>
            <a:prstDash val="solid"/>
          </a:ln>
        </p:spPr>
        <p:txBody>
          <a:bodyPr/>
          <a:lstStyle/>
          <a:p>
            <a:endParaRPr lang="en-US"/>
          </a:p>
        </p:txBody>
      </p:sp>
      <p:sp>
        <p:nvSpPr>
          <p:cNvPr id="51" name="Text 38"/>
          <p:cNvSpPr/>
          <p:nvPr/>
        </p:nvSpPr>
        <p:spPr>
          <a:xfrm>
            <a:off x="9559857" y="8803739"/>
            <a:ext cx="7662598" cy="636881"/>
          </a:xfrm>
          <a:prstGeom prst="rect">
            <a:avLst/>
          </a:prstGeom>
          <a:noFill/>
          <a:ln/>
        </p:spPr>
        <p:txBody>
          <a:bodyPr wrap="square" lIns="25400" tIns="25400" rIns="25400" bIns="25400" rtlCol="0" anchor="t">
            <a:normAutofit/>
          </a:bodyPr>
          <a:lstStyle/>
          <a:p>
            <a:pPr marL="0" indent="0" algn="l">
              <a:buNone/>
            </a:pPr>
            <a:r>
              <a:rPr lang="en-US" sz="1950" b="1" dirty="0">
                <a:solidFill>
                  <a:srgbClr val="FF6B00"/>
                </a:solidFill>
                <a:latin typeface="Space Grotesk" pitchFamily="34" charset="0"/>
                <a:ea typeface="Space Grotesk" pitchFamily="34" charset="-122"/>
                <a:cs typeface="Space Grotesk" pitchFamily="34" charset="-120"/>
              </a:rPr>
              <a:t>Company Brain </a:t>
            </a:r>
            <a:r>
              <a:rPr lang="en-US" sz="1800" dirty="0">
                <a:solidFill>
                  <a:srgbClr val="F0F6FC"/>
                </a:solidFill>
                <a:latin typeface="Inter" pitchFamily="34" charset="0"/>
                <a:ea typeface="Inter" pitchFamily="34" charset="-122"/>
                <a:cs typeface="Inter" pitchFamily="34" charset="-120"/>
              </a:rPr>
              <a:t>— the missing intelligence layer for AI-native organizations.</a:t>
            </a:r>
            <a:endParaRPr lang="en-US" sz="1200" dirty="0"/>
          </a:p>
        </p:txBody>
      </p:sp>
      <p:pic>
        <p:nvPicPr>
          <p:cNvPr id="52" name="Picture 51">
            <a:extLst>
              <a:ext uri="{FF2B5EF4-FFF2-40B4-BE49-F238E27FC236}">
                <a16:creationId xmlns:a16="http://schemas.microsoft.com/office/drawing/2014/main" id="{7F71C929-52F1-5D00-E245-57FB4220EA1F}"/>
              </a:ext>
            </a:extLst>
          </p:cNvPr>
          <p:cNvPicPr>
            <a:picLocks noChangeAspect="1"/>
          </p:cNvPicPr>
          <p:nvPr/>
        </p:nvPicPr>
        <p:blipFill>
          <a:blip r:embed="rId13"/>
          <a:stretch>
            <a:fillRect/>
          </a:stretch>
        </p:blipFill>
        <p:spPr>
          <a:xfrm>
            <a:off x="15314892" y="565831"/>
            <a:ext cx="2293110" cy="1288727"/>
          </a:xfrm>
          <a:prstGeom prst="rect">
            <a:avLst/>
          </a:prstGeom>
        </p:spPr>
      </p:pic>
      <p:pic>
        <p:nvPicPr>
          <p:cNvPr id="53" name="Image 0" descr="preencoded.png">
            <a:extLst>
              <a:ext uri="{FF2B5EF4-FFF2-40B4-BE49-F238E27FC236}">
                <a16:creationId xmlns:a16="http://schemas.microsoft.com/office/drawing/2014/main" id="{A06B2B43-AA19-4AAD-65A6-C530817D467B}"/>
              </a:ext>
            </a:extLst>
          </p:cNvPr>
          <p:cNvPicPr>
            <a:picLocks noChangeAspect="1"/>
          </p:cNvPicPr>
          <p:nvPr/>
        </p:nvPicPr>
        <p:blipFill>
          <a:blip r:embed="rId14"/>
          <a:stretch>
            <a:fillRect/>
          </a:stretch>
        </p:blipFill>
        <p:spPr>
          <a:xfrm>
            <a:off x="8166253" y="4803051"/>
            <a:ext cx="497771" cy="4977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TEAM</a:t>
            </a:r>
            <a:endParaRPr lang="en-US" sz="1800" dirty="0"/>
          </a:p>
        </p:txBody>
      </p:sp>
      <p:sp>
        <p:nvSpPr>
          <p:cNvPr id="3" name="Text 1"/>
          <p:cNvSpPr/>
          <p:nvPr/>
        </p:nvSpPr>
        <p:spPr>
          <a:xfrm>
            <a:off x="1047694" y="1334839"/>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The people building the Brain.</a:t>
            </a:r>
            <a:endParaRPr lang="en-US" sz="5250" dirty="0"/>
          </a:p>
        </p:txBody>
      </p:sp>
      <p:sp>
        <p:nvSpPr>
          <p:cNvPr id="4" name="Shape 2"/>
          <p:cNvSpPr/>
          <p:nvPr/>
        </p:nvSpPr>
        <p:spPr>
          <a:xfrm>
            <a:off x="1047694" y="2607121"/>
            <a:ext cx="5257826" cy="2911315"/>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5" name="Shape 3"/>
          <p:cNvSpPr/>
          <p:nvPr/>
        </p:nvSpPr>
        <p:spPr>
          <a:xfrm>
            <a:off x="1360605" y="3729421"/>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6" name="Text 4"/>
          <p:cNvSpPr/>
          <p:nvPr/>
        </p:nvSpPr>
        <p:spPr>
          <a:xfrm>
            <a:off x="1330709" y="3737625"/>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FF6B00"/>
                </a:solidFill>
                <a:latin typeface="Space Grotesk" pitchFamily="34" charset="0"/>
                <a:ea typeface="Space Grotesk" pitchFamily="34" charset="-122"/>
                <a:cs typeface="Space Grotesk" pitchFamily="34" charset="-120"/>
              </a:rPr>
              <a:t>AF</a:t>
            </a:r>
            <a:endParaRPr lang="en-US" sz="2100" dirty="0"/>
          </a:p>
        </p:txBody>
      </p:sp>
      <p:sp>
        <p:nvSpPr>
          <p:cNvPr id="7" name="Text 5"/>
          <p:cNvSpPr/>
          <p:nvPr/>
        </p:nvSpPr>
        <p:spPr>
          <a:xfrm>
            <a:off x="2255881" y="3736087"/>
            <a:ext cx="2464266"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Ashraf Ali Faiyaz</a:t>
            </a:r>
            <a:endParaRPr lang="en-US" sz="2175" dirty="0"/>
          </a:p>
        </p:txBody>
      </p:sp>
      <p:sp>
        <p:nvSpPr>
          <p:cNvPr id="8" name="Text 6"/>
          <p:cNvSpPr/>
          <p:nvPr/>
        </p:nvSpPr>
        <p:spPr>
          <a:xfrm>
            <a:off x="2255881" y="4110529"/>
            <a:ext cx="2464266"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Founder &amp; CEO</a:t>
            </a:r>
            <a:endParaRPr lang="en-US" sz="1800" dirty="0"/>
          </a:p>
        </p:txBody>
      </p:sp>
      <p:sp>
        <p:nvSpPr>
          <p:cNvPr id="9" name="Shape 7"/>
          <p:cNvSpPr/>
          <p:nvPr/>
        </p:nvSpPr>
        <p:spPr>
          <a:xfrm>
            <a:off x="6514981" y="2607121"/>
            <a:ext cx="5257826" cy="2911315"/>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10" name="Shape 8"/>
          <p:cNvSpPr/>
          <p:nvPr/>
        </p:nvSpPr>
        <p:spPr>
          <a:xfrm>
            <a:off x="6827893" y="3729421"/>
            <a:ext cx="666714" cy="666714"/>
          </a:xfrm>
          <a:prstGeom prst="ellipse">
            <a:avLst/>
          </a:prstGeom>
          <a:solidFill>
            <a:srgbClr val="161B22"/>
          </a:solidFill>
          <a:ln w="8204">
            <a:solidFill>
              <a:srgbClr val="30363D"/>
            </a:solidFill>
            <a:prstDash val="solid"/>
          </a:ln>
        </p:spPr>
        <p:txBody>
          <a:bodyPr/>
          <a:lstStyle/>
          <a:p>
            <a:endParaRPr lang="en-US"/>
          </a:p>
        </p:txBody>
      </p:sp>
      <p:sp>
        <p:nvSpPr>
          <p:cNvPr id="11" name="Text 9"/>
          <p:cNvSpPr/>
          <p:nvPr/>
        </p:nvSpPr>
        <p:spPr>
          <a:xfrm>
            <a:off x="6797997" y="3737625"/>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MI</a:t>
            </a:r>
            <a:endParaRPr lang="en-US" sz="2100" dirty="0"/>
          </a:p>
        </p:txBody>
      </p:sp>
      <p:sp>
        <p:nvSpPr>
          <p:cNvPr id="12" name="Text 10"/>
          <p:cNvSpPr/>
          <p:nvPr/>
        </p:nvSpPr>
        <p:spPr>
          <a:xfrm>
            <a:off x="7723169" y="3736087"/>
            <a:ext cx="3877172"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Mazharul Islam</a:t>
            </a:r>
            <a:endParaRPr lang="en-US" sz="2175" dirty="0"/>
          </a:p>
        </p:txBody>
      </p:sp>
      <p:sp>
        <p:nvSpPr>
          <p:cNvPr id="13" name="Text 11"/>
          <p:cNvSpPr/>
          <p:nvPr/>
        </p:nvSpPr>
        <p:spPr>
          <a:xfrm>
            <a:off x="7723169" y="4110529"/>
            <a:ext cx="387717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Co-founder &amp; Managing Director</a:t>
            </a:r>
            <a:endParaRPr lang="en-US" sz="1800" dirty="0"/>
          </a:p>
        </p:txBody>
      </p:sp>
      <p:sp>
        <p:nvSpPr>
          <p:cNvPr id="14" name="Shape 12"/>
          <p:cNvSpPr/>
          <p:nvPr/>
        </p:nvSpPr>
        <p:spPr>
          <a:xfrm>
            <a:off x="11982269" y="2607121"/>
            <a:ext cx="5257826" cy="2911315"/>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15" name="Shape 13"/>
          <p:cNvSpPr/>
          <p:nvPr/>
        </p:nvSpPr>
        <p:spPr>
          <a:xfrm>
            <a:off x="12295180" y="3729421"/>
            <a:ext cx="666714" cy="666714"/>
          </a:xfrm>
          <a:prstGeom prst="ellipse">
            <a:avLst/>
          </a:prstGeom>
          <a:solidFill>
            <a:srgbClr val="161B22"/>
          </a:solidFill>
          <a:ln w="8204">
            <a:solidFill>
              <a:srgbClr val="30363D"/>
            </a:solidFill>
            <a:prstDash val="solid"/>
          </a:ln>
        </p:spPr>
        <p:txBody>
          <a:bodyPr/>
          <a:lstStyle/>
          <a:p>
            <a:endParaRPr lang="en-US"/>
          </a:p>
        </p:txBody>
      </p:sp>
      <p:sp>
        <p:nvSpPr>
          <p:cNvPr id="16" name="Text 14"/>
          <p:cNvSpPr/>
          <p:nvPr/>
        </p:nvSpPr>
        <p:spPr>
          <a:xfrm>
            <a:off x="12265284" y="3737625"/>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MF</a:t>
            </a:r>
            <a:endParaRPr lang="en-US" sz="2100" dirty="0"/>
          </a:p>
        </p:txBody>
      </p:sp>
      <p:sp>
        <p:nvSpPr>
          <p:cNvPr id="17" name="Text 15"/>
          <p:cNvSpPr/>
          <p:nvPr/>
        </p:nvSpPr>
        <p:spPr>
          <a:xfrm>
            <a:off x="13190456" y="3736087"/>
            <a:ext cx="3194127"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Muhaiminul A. Farhan</a:t>
            </a:r>
            <a:endParaRPr lang="en-US" sz="2175" dirty="0"/>
          </a:p>
        </p:txBody>
      </p:sp>
      <p:sp>
        <p:nvSpPr>
          <p:cNvPr id="18" name="Text 16"/>
          <p:cNvSpPr/>
          <p:nvPr/>
        </p:nvSpPr>
        <p:spPr>
          <a:xfrm>
            <a:off x="13190456" y="4110529"/>
            <a:ext cx="3194127"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Founding CTO</a:t>
            </a:r>
            <a:endParaRPr lang="en-US" sz="1800" dirty="0"/>
          </a:p>
        </p:txBody>
      </p:sp>
      <p:sp>
        <p:nvSpPr>
          <p:cNvPr id="19" name="Shape 17"/>
          <p:cNvSpPr/>
          <p:nvPr/>
        </p:nvSpPr>
        <p:spPr>
          <a:xfrm>
            <a:off x="1047694" y="5727897"/>
            <a:ext cx="5257826" cy="2911443"/>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20" name="Shape 18"/>
          <p:cNvSpPr/>
          <p:nvPr/>
        </p:nvSpPr>
        <p:spPr>
          <a:xfrm>
            <a:off x="1360605" y="6850198"/>
            <a:ext cx="666714" cy="666714"/>
          </a:xfrm>
          <a:prstGeom prst="ellipse">
            <a:avLst/>
          </a:prstGeom>
          <a:solidFill>
            <a:srgbClr val="161B22"/>
          </a:solidFill>
          <a:ln w="8204">
            <a:solidFill>
              <a:srgbClr val="30363D"/>
            </a:solidFill>
            <a:prstDash val="solid"/>
          </a:ln>
        </p:spPr>
        <p:txBody>
          <a:bodyPr/>
          <a:lstStyle/>
          <a:p>
            <a:endParaRPr lang="en-US"/>
          </a:p>
        </p:txBody>
      </p:sp>
      <p:sp>
        <p:nvSpPr>
          <p:cNvPr id="21" name="Text 19"/>
          <p:cNvSpPr/>
          <p:nvPr/>
        </p:nvSpPr>
        <p:spPr>
          <a:xfrm>
            <a:off x="1330709" y="6858402"/>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RR</a:t>
            </a:r>
            <a:endParaRPr lang="en-US" sz="2100" dirty="0"/>
          </a:p>
        </p:txBody>
      </p:sp>
      <p:sp>
        <p:nvSpPr>
          <p:cNvPr id="22" name="Text 20"/>
          <p:cNvSpPr/>
          <p:nvPr/>
        </p:nvSpPr>
        <p:spPr>
          <a:xfrm>
            <a:off x="2255881" y="6856863"/>
            <a:ext cx="2966962"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Rafiur Zaman Ruhan</a:t>
            </a:r>
            <a:endParaRPr lang="en-US" sz="2175" dirty="0"/>
          </a:p>
        </p:txBody>
      </p:sp>
      <p:sp>
        <p:nvSpPr>
          <p:cNvPr id="23" name="Text 21"/>
          <p:cNvSpPr/>
          <p:nvPr/>
        </p:nvSpPr>
        <p:spPr>
          <a:xfrm>
            <a:off x="2255881" y="7231305"/>
            <a:ext cx="296696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Builder</a:t>
            </a:r>
            <a:endParaRPr lang="en-US" sz="1800" dirty="0"/>
          </a:p>
        </p:txBody>
      </p:sp>
      <p:sp>
        <p:nvSpPr>
          <p:cNvPr id="24" name="Shape 22"/>
          <p:cNvSpPr/>
          <p:nvPr/>
        </p:nvSpPr>
        <p:spPr>
          <a:xfrm>
            <a:off x="6514981" y="5727897"/>
            <a:ext cx="5257826" cy="2911443"/>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25" name="Shape 23"/>
          <p:cNvSpPr/>
          <p:nvPr/>
        </p:nvSpPr>
        <p:spPr>
          <a:xfrm>
            <a:off x="6827893" y="6850198"/>
            <a:ext cx="666714" cy="666714"/>
          </a:xfrm>
          <a:prstGeom prst="ellipse">
            <a:avLst/>
          </a:prstGeom>
          <a:solidFill>
            <a:srgbClr val="161B22"/>
          </a:solidFill>
          <a:ln w="8204">
            <a:solidFill>
              <a:srgbClr val="30363D"/>
            </a:solidFill>
            <a:prstDash val="solid"/>
          </a:ln>
        </p:spPr>
        <p:txBody>
          <a:bodyPr/>
          <a:lstStyle/>
          <a:p>
            <a:endParaRPr lang="en-US"/>
          </a:p>
        </p:txBody>
      </p:sp>
      <p:sp>
        <p:nvSpPr>
          <p:cNvPr id="26" name="Text 24"/>
          <p:cNvSpPr/>
          <p:nvPr/>
        </p:nvSpPr>
        <p:spPr>
          <a:xfrm>
            <a:off x="6797997" y="6858402"/>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AB</a:t>
            </a:r>
            <a:endParaRPr lang="en-US" sz="2100" dirty="0"/>
          </a:p>
        </p:txBody>
      </p:sp>
      <p:sp>
        <p:nvSpPr>
          <p:cNvPr id="27" name="Text 25"/>
          <p:cNvSpPr/>
          <p:nvPr/>
        </p:nvSpPr>
        <p:spPr>
          <a:xfrm>
            <a:off x="7723169" y="6856863"/>
            <a:ext cx="3274501"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Afnan Ahmed Bhuiyan</a:t>
            </a:r>
            <a:endParaRPr lang="en-US" sz="2175" dirty="0"/>
          </a:p>
        </p:txBody>
      </p:sp>
      <p:sp>
        <p:nvSpPr>
          <p:cNvPr id="28" name="Text 26"/>
          <p:cNvSpPr/>
          <p:nvPr/>
        </p:nvSpPr>
        <p:spPr>
          <a:xfrm>
            <a:off x="7723169" y="7231305"/>
            <a:ext cx="327450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Product Manager</a:t>
            </a:r>
            <a:endParaRPr lang="en-US" sz="1800" dirty="0"/>
          </a:p>
        </p:txBody>
      </p:sp>
      <p:sp>
        <p:nvSpPr>
          <p:cNvPr id="29" name="Shape 27"/>
          <p:cNvSpPr/>
          <p:nvPr/>
        </p:nvSpPr>
        <p:spPr>
          <a:xfrm>
            <a:off x="11982269" y="5727897"/>
            <a:ext cx="5257826" cy="2911443"/>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30" name="Shape 28"/>
          <p:cNvSpPr/>
          <p:nvPr/>
        </p:nvSpPr>
        <p:spPr>
          <a:xfrm>
            <a:off x="12295180" y="6850198"/>
            <a:ext cx="666714" cy="666714"/>
          </a:xfrm>
          <a:prstGeom prst="ellipse">
            <a:avLst/>
          </a:prstGeom>
          <a:solidFill>
            <a:srgbClr val="161B22"/>
          </a:solidFill>
          <a:ln w="8204">
            <a:solidFill>
              <a:srgbClr val="30363D"/>
            </a:solidFill>
            <a:prstDash val="solid"/>
          </a:ln>
        </p:spPr>
        <p:txBody>
          <a:bodyPr/>
          <a:lstStyle/>
          <a:p>
            <a:endParaRPr lang="en-US"/>
          </a:p>
        </p:txBody>
      </p:sp>
      <p:sp>
        <p:nvSpPr>
          <p:cNvPr id="31" name="Text 29"/>
          <p:cNvSpPr/>
          <p:nvPr/>
        </p:nvSpPr>
        <p:spPr>
          <a:xfrm>
            <a:off x="12265284" y="6858402"/>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JF</a:t>
            </a:r>
            <a:endParaRPr lang="en-US" sz="2100" dirty="0"/>
          </a:p>
        </p:txBody>
      </p:sp>
      <p:sp>
        <p:nvSpPr>
          <p:cNvPr id="32" name="Text 30"/>
          <p:cNvSpPr/>
          <p:nvPr/>
        </p:nvSpPr>
        <p:spPr>
          <a:xfrm>
            <a:off x="13190456" y="6856863"/>
            <a:ext cx="1620894"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Jahid Farid</a:t>
            </a:r>
            <a:endParaRPr lang="en-US" sz="2175" dirty="0"/>
          </a:p>
        </p:txBody>
      </p:sp>
      <p:sp>
        <p:nvSpPr>
          <p:cNvPr id="33" name="Text 31"/>
          <p:cNvSpPr/>
          <p:nvPr/>
        </p:nvSpPr>
        <p:spPr>
          <a:xfrm>
            <a:off x="13190456" y="7231305"/>
            <a:ext cx="162089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CFO</a:t>
            </a:r>
            <a:endParaRPr lang="en-US" sz="1800" dirty="0"/>
          </a:p>
        </p:txBody>
      </p:sp>
      <p:sp>
        <p:nvSpPr>
          <p:cNvPr id="34" name="Text 32"/>
          <p:cNvSpPr/>
          <p:nvPr/>
        </p:nvSpPr>
        <p:spPr>
          <a:xfrm>
            <a:off x="1047694" y="9066468"/>
            <a:ext cx="1773606"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Capability map</a:t>
            </a:r>
            <a:endParaRPr lang="en-US" sz="1800" dirty="0"/>
          </a:p>
        </p:txBody>
      </p:sp>
      <p:sp>
        <p:nvSpPr>
          <p:cNvPr id="35" name="Shape 33"/>
          <p:cNvSpPr/>
          <p:nvPr/>
        </p:nvSpPr>
        <p:spPr>
          <a:xfrm>
            <a:off x="2869525" y="8982119"/>
            <a:ext cx="1471617"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3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9119" y="9097489"/>
            <a:ext cx="190490" cy="190490"/>
          </a:xfrm>
          <a:prstGeom prst="rect">
            <a:avLst/>
          </a:prstGeom>
        </p:spPr>
      </p:pic>
      <p:sp>
        <p:nvSpPr>
          <p:cNvPr id="37" name="Text 34"/>
          <p:cNvSpPr/>
          <p:nvPr/>
        </p:nvSpPr>
        <p:spPr>
          <a:xfrm>
            <a:off x="3315753" y="9066468"/>
            <a:ext cx="921995"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Product</a:t>
            </a:r>
            <a:endParaRPr lang="en-US" sz="1800" dirty="0"/>
          </a:p>
        </p:txBody>
      </p:sp>
      <p:sp>
        <p:nvSpPr>
          <p:cNvPr id="38" name="Shape 35"/>
          <p:cNvSpPr/>
          <p:nvPr/>
        </p:nvSpPr>
        <p:spPr>
          <a:xfrm>
            <a:off x="4474459" y="8982119"/>
            <a:ext cx="845026"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3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4053" y="9097489"/>
            <a:ext cx="190490" cy="190490"/>
          </a:xfrm>
          <a:prstGeom prst="rect">
            <a:avLst/>
          </a:prstGeom>
        </p:spPr>
      </p:pic>
      <p:sp>
        <p:nvSpPr>
          <p:cNvPr id="40" name="Text 36"/>
          <p:cNvSpPr/>
          <p:nvPr/>
        </p:nvSpPr>
        <p:spPr>
          <a:xfrm>
            <a:off x="4920687" y="9066468"/>
            <a:ext cx="295405"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AI</a:t>
            </a:r>
            <a:endParaRPr lang="en-US" sz="1800" dirty="0"/>
          </a:p>
        </p:txBody>
      </p:sp>
      <p:sp>
        <p:nvSpPr>
          <p:cNvPr id="41" name="Shape 37"/>
          <p:cNvSpPr/>
          <p:nvPr/>
        </p:nvSpPr>
        <p:spPr>
          <a:xfrm>
            <a:off x="5452802" y="8982119"/>
            <a:ext cx="1914256"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4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2396" y="9097489"/>
            <a:ext cx="190490" cy="190490"/>
          </a:xfrm>
          <a:prstGeom prst="rect">
            <a:avLst/>
          </a:prstGeom>
        </p:spPr>
      </p:pic>
      <p:sp>
        <p:nvSpPr>
          <p:cNvPr id="43" name="Text 38"/>
          <p:cNvSpPr/>
          <p:nvPr/>
        </p:nvSpPr>
        <p:spPr>
          <a:xfrm>
            <a:off x="5899030" y="9066468"/>
            <a:ext cx="1364634"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Engineering</a:t>
            </a:r>
            <a:endParaRPr lang="en-US" sz="1800" dirty="0"/>
          </a:p>
        </p:txBody>
      </p:sp>
      <p:sp>
        <p:nvSpPr>
          <p:cNvPr id="44" name="Shape 39"/>
          <p:cNvSpPr/>
          <p:nvPr/>
        </p:nvSpPr>
        <p:spPr>
          <a:xfrm>
            <a:off x="7500375" y="8982119"/>
            <a:ext cx="1811191"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4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9969" y="9097489"/>
            <a:ext cx="190490" cy="190490"/>
          </a:xfrm>
          <a:prstGeom prst="rect">
            <a:avLst/>
          </a:prstGeom>
        </p:spPr>
      </p:pic>
      <p:sp>
        <p:nvSpPr>
          <p:cNvPr id="46" name="Text 40"/>
          <p:cNvSpPr/>
          <p:nvPr/>
        </p:nvSpPr>
        <p:spPr>
          <a:xfrm>
            <a:off x="7946603" y="9066468"/>
            <a:ext cx="1261570"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Operations</a:t>
            </a:r>
            <a:endParaRPr lang="en-US" sz="1800" dirty="0"/>
          </a:p>
        </p:txBody>
      </p:sp>
      <p:sp>
        <p:nvSpPr>
          <p:cNvPr id="47" name="Shape 41"/>
          <p:cNvSpPr/>
          <p:nvPr/>
        </p:nvSpPr>
        <p:spPr>
          <a:xfrm>
            <a:off x="9444883" y="8982119"/>
            <a:ext cx="1478411"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4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24477" y="9097489"/>
            <a:ext cx="190490" cy="190490"/>
          </a:xfrm>
          <a:prstGeom prst="rect">
            <a:avLst/>
          </a:prstGeom>
        </p:spPr>
      </p:pic>
      <p:sp>
        <p:nvSpPr>
          <p:cNvPr id="49" name="Text 42"/>
          <p:cNvSpPr/>
          <p:nvPr/>
        </p:nvSpPr>
        <p:spPr>
          <a:xfrm>
            <a:off x="9891111" y="9066468"/>
            <a:ext cx="928790"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Finance</a:t>
            </a:r>
            <a:endParaRPr lang="en-US" sz="1800" dirty="0"/>
          </a:p>
        </p:txBody>
      </p:sp>
      <p:pic>
        <p:nvPicPr>
          <p:cNvPr id="50" name="Picture 49">
            <a:extLst>
              <a:ext uri="{FF2B5EF4-FFF2-40B4-BE49-F238E27FC236}">
                <a16:creationId xmlns:a16="http://schemas.microsoft.com/office/drawing/2014/main" id="{5003BC78-063A-19AA-BA66-2B3AF62A7D44}"/>
              </a:ext>
            </a:extLst>
          </p:cNvPr>
          <p:cNvPicPr>
            <a:picLocks noChangeAspect="1"/>
          </p:cNvPicPr>
          <p:nvPr/>
        </p:nvPicPr>
        <p:blipFill>
          <a:blip r:embed="rId8"/>
          <a:stretch>
            <a:fillRect/>
          </a:stretch>
        </p:blipFill>
        <p:spPr>
          <a:xfrm>
            <a:off x="15314892" y="565831"/>
            <a:ext cx="2293110" cy="1288727"/>
          </a:xfrm>
          <a:prstGeom prst="rect">
            <a:avLst/>
          </a:prstGeom>
        </p:spPr>
      </p:pic>
      <p:sp>
        <p:nvSpPr>
          <p:cNvPr id="51" name="Shape 3">
            <a:extLst>
              <a:ext uri="{FF2B5EF4-FFF2-40B4-BE49-F238E27FC236}">
                <a16:creationId xmlns:a16="http://schemas.microsoft.com/office/drawing/2014/main" id="{67B8DFF0-0562-7B6E-02C7-93A630C59047}"/>
              </a:ext>
            </a:extLst>
          </p:cNvPr>
          <p:cNvSpPr/>
          <p:nvPr/>
        </p:nvSpPr>
        <p:spPr>
          <a:xfrm>
            <a:off x="12314280" y="3737625"/>
            <a:ext cx="666714" cy="666714"/>
          </a:xfrm>
          <a:prstGeom prst="ellipse">
            <a:avLst/>
          </a:prstGeom>
          <a:solidFill>
            <a:srgbClr val="FF6B00">
              <a:alpha val="10000"/>
            </a:srgbClr>
          </a:solidFill>
          <a:ln w="8204">
            <a:solidFill>
              <a:srgbClr val="FF6B00"/>
            </a:solidFill>
            <a:prstDash val="solid"/>
          </a:ln>
        </p:spPr>
        <p:txBody>
          <a:bodyPr/>
          <a:lstStyle/>
          <a:p>
            <a:endParaRPr lang="en-US" dirty="0"/>
          </a:p>
        </p:txBody>
      </p:sp>
      <p:sp>
        <p:nvSpPr>
          <p:cNvPr id="52" name="Shape 3">
            <a:extLst>
              <a:ext uri="{FF2B5EF4-FFF2-40B4-BE49-F238E27FC236}">
                <a16:creationId xmlns:a16="http://schemas.microsoft.com/office/drawing/2014/main" id="{995A67E0-0502-3BD5-15EB-3B99C19BCBF2}"/>
              </a:ext>
            </a:extLst>
          </p:cNvPr>
          <p:cNvSpPr/>
          <p:nvPr/>
        </p:nvSpPr>
        <p:spPr>
          <a:xfrm>
            <a:off x="6831686" y="3752545"/>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53" name="Shape 3">
            <a:extLst>
              <a:ext uri="{FF2B5EF4-FFF2-40B4-BE49-F238E27FC236}">
                <a16:creationId xmlns:a16="http://schemas.microsoft.com/office/drawing/2014/main" id="{729C352B-54D0-6BA3-6D23-3C4A5C42D6C8}"/>
              </a:ext>
            </a:extLst>
          </p:cNvPr>
          <p:cNvSpPr/>
          <p:nvPr/>
        </p:nvSpPr>
        <p:spPr>
          <a:xfrm>
            <a:off x="1359462" y="6872576"/>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54" name="Shape 3">
            <a:extLst>
              <a:ext uri="{FF2B5EF4-FFF2-40B4-BE49-F238E27FC236}">
                <a16:creationId xmlns:a16="http://schemas.microsoft.com/office/drawing/2014/main" id="{52DFFC5F-0592-44DC-90C0-F2C9D3729F5F}"/>
              </a:ext>
            </a:extLst>
          </p:cNvPr>
          <p:cNvSpPr/>
          <p:nvPr/>
        </p:nvSpPr>
        <p:spPr>
          <a:xfrm>
            <a:off x="6834637" y="6831822"/>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55" name="Shape 3">
            <a:extLst>
              <a:ext uri="{FF2B5EF4-FFF2-40B4-BE49-F238E27FC236}">
                <a16:creationId xmlns:a16="http://schemas.microsoft.com/office/drawing/2014/main" id="{466A36CB-D70A-6299-2DEF-7B5050573158}"/>
              </a:ext>
            </a:extLst>
          </p:cNvPr>
          <p:cNvSpPr/>
          <p:nvPr/>
        </p:nvSpPr>
        <p:spPr>
          <a:xfrm>
            <a:off x="12280013" y="6831822"/>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704787"/>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BUSINESS MODEL</a:t>
            </a:r>
            <a:endParaRPr lang="en-US" sz="1800" dirty="0"/>
          </a:p>
        </p:txBody>
      </p:sp>
      <p:sp>
        <p:nvSpPr>
          <p:cNvPr id="3" name="Text 1"/>
          <p:cNvSpPr/>
          <p:nvPr/>
        </p:nvSpPr>
        <p:spPr>
          <a:xfrm>
            <a:off x="1047694" y="1144221"/>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Company intelligence infrastructure.</a:t>
            </a:r>
            <a:endParaRPr lang="en-US" sz="5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29677" y="2959642"/>
            <a:ext cx="228562" cy="247534"/>
          </a:xfrm>
          <a:prstGeom prst="rect">
            <a:avLst/>
          </a:prstGeom>
        </p:spPr>
      </p:pic>
      <p:sp>
        <p:nvSpPr>
          <p:cNvPr id="8" name="Text 4"/>
          <p:cNvSpPr/>
          <p:nvPr/>
        </p:nvSpPr>
        <p:spPr>
          <a:xfrm>
            <a:off x="7804954" y="3302421"/>
            <a:ext cx="2945669" cy="317041"/>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8B949E"/>
                </a:solidFill>
                <a:latin typeface="Inter" pitchFamily="34" charset="0"/>
                <a:ea typeface="Inter" pitchFamily="34" charset="-122"/>
                <a:cs typeface="Inter" pitchFamily="34" charset="-120"/>
              </a:rPr>
              <a:t>Three growth channels</a:t>
            </a:r>
            <a:endParaRPr lang="en-US" sz="1800" dirty="0"/>
          </a:p>
        </p:txBody>
      </p:sp>
      <p:sp>
        <p:nvSpPr>
          <p:cNvPr id="9" name="Shape 5"/>
          <p:cNvSpPr/>
          <p:nvPr/>
        </p:nvSpPr>
        <p:spPr>
          <a:xfrm>
            <a:off x="1047694" y="3828896"/>
            <a:ext cx="5232444" cy="5051825"/>
          </a:xfrm>
          <a:prstGeom prst="roundRect">
            <a:avLst>
              <a:gd name="adj" fmla="val 1508"/>
            </a:avLst>
          </a:prstGeom>
          <a:solidFill>
            <a:srgbClr val="161B22"/>
          </a:solidFill>
          <a:ln w="8204">
            <a:solidFill>
              <a:srgbClr val="30363D"/>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705" y="4160907"/>
            <a:ext cx="399952" cy="399952"/>
          </a:xfrm>
          <a:prstGeom prst="rect">
            <a:avLst/>
          </a:prstGeom>
        </p:spPr>
      </p:pic>
      <p:sp>
        <p:nvSpPr>
          <p:cNvPr id="11" name="Text 6"/>
          <p:cNvSpPr/>
          <p:nvPr/>
        </p:nvSpPr>
        <p:spPr>
          <a:xfrm>
            <a:off x="1379705" y="4784165"/>
            <a:ext cx="50252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Subscription</a:t>
            </a:r>
            <a:endParaRPr lang="en-US" sz="1800" dirty="0"/>
          </a:p>
        </p:txBody>
      </p:sp>
      <p:sp>
        <p:nvSpPr>
          <p:cNvPr id="12" name="Text 7"/>
          <p:cNvSpPr/>
          <p:nvPr/>
        </p:nvSpPr>
        <p:spPr>
          <a:xfrm>
            <a:off x="1379705" y="5120150"/>
            <a:ext cx="5025264" cy="399082"/>
          </a:xfrm>
          <a:prstGeom prst="rect">
            <a:avLst/>
          </a:prstGeom>
          <a:noFill/>
          <a:ln/>
        </p:spPr>
        <p:txBody>
          <a:bodyPr wrap="square" lIns="25400" tIns="25400" rIns="25400" bIns="25400" rtlCol="0" anchor="t">
            <a:normAutofit/>
          </a:bodyPr>
          <a:lstStyle/>
          <a:p>
            <a:pPr marL="0" indent="0" algn="l">
              <a:buNone/>
            </a:pPr>
            <a:r>
              <a:rPr lang="en-US" sz="2250" b="1" kern="0" spc="-22" dirty="0">
                <a:solidFill>
                  <a:srgbClr val="F0F6FC"/>
                </a:solidFill>
                <a:latin typeface="Space Grotesk" pitchFamily="34" charset="0"/>
                <a:ea typeface="Space Grotesk" pitchFamily="34" charset="-122"/>
                <a:cs typeface="Space Grotesk" pitchFamily="34" charset="-120"/>
              </a:rPr>
              <a:t>Company Brain Platform</a:t>
            </a:r>
            <a:endParaRPr lang="en-US" sz="2250" dirty="0"/>
          </a:p>
        </p:txBody>
      </p:sp>
      <p:sp>
        <p:nvSpPr>
          <p:cNvPr id="13" name="Text 8"/>
          <p:cNvSpPr/>
          <p:nvPr/>
        </p:nvSpPr>
        <p:spPr>
          <a:xfrm>
            <a:off x="1379705" y="5595349"/>
            <a:ext cx="4705475" cy="678023"/>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8B949E"/>
                </a:solidFill>
                <a:latin typeface="Inter" pitchFamily="34" charset="0"/>
                <a:ea typeface="Inter" pitchFamily="34" charset="-122"/>
                <a:cs typeface="Inter" pitchFamily="34" charset="-120"/>
              </a:rPr>
              <a:t>Recurring access to organizational intelligence.</a:t>
            </a:r>
            <a:endParaRPr lang="en-US" sz="1800" dirty="0"/>
          </a:p>
        </p:txBody>
      </p:sp>
      <p:sp>
        <p:nvSpPr>
          <p:cNvPr id="14" name="Shape 9"/>
          <p:cNvSpPr/>
          <p:nvPr/>
        </p:nvSpPr>
        <p:spPr>
          <a:xfrm>
            <a:off x="1379705" y="7558189"/>
            <a:ext cx="1852340" cy="447638"/>
          </a:xfrm>
          <a:prstGeom prst="roundRect">
            <a:avLst>
              <a:gd name="adj" fmla="val 12767"/>
            </a:avLst>
          </a:prstGeom>
          <a:ln w="8204">
            <a:solidFill>
              <a:srgbClr val="30363D"/>
            </a:solidFill>
            <a:prstDash val="solid"/>
          </a:ln>
        </p:spPr>
        <p:txBody>
          <a:bodyPr/>
          <a:lstStyle/>
          <a:p>
            <a:endParaRPr lang="en-US"/>
          </a:p>
        </p:txBody>
      </p:sp>
      <p:sp>
        <p:nvSpPr>
          <p:cNvPr id="15" name="Text 10"/>
          <p:cNvSpPr/>
          <p:nvPr/>
        </p:nvSpPr>
        <p:spPr>
          <a:xfrm>
            <a:off x="1540309" y="7642593"/>
            <a:ext cx="1607332"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Company size</a:t>
            </a:r>
            <a:endParaRPr lang="en-US" sz="1800" dirty="0"/>
          </a:p>
        </p:txBody>
      </p:sp>
      <p:sp>
        <p:nvSpPr>
          <p:cNvPr id="16" name="Shape 11"/>
          <p:cNvSpPr/>
          <p:nvPr/>
        </p:nvSpPr>
        <p:spPr>
          <a:xfrm>
            <a:off x="3327290" y="7558189"/>
            <a:ext cx="951680" cy="447638"/>
          </a:xfrm>
          <a:prstGeom prst="roundRect">
            <a:avLst>
              <a:gd name="adj" fmla="val 12767"/>
            </a:avLst>
          </a:prstGeom>
          <a:ln w="8204">
            <a:solidFill>
              <a:srgbClr val="30363D"/>
            </a:solidFill>
            <a:prstDash val="solid"/>
          </a:ln>
        </p:spPr>
        <p:txBody>
          <a:bodyPr/>
          <a:lstStyle/>
          <a:p>
            <a:endParaRPr lang="en-US"/>
          </a:p>
        </p:txBody>
      </p:sp>
      <p:sp>
        <p:nvSpPr>
          <p:cNvPr id="17" name="Text 12"/>
          <p:cNvSpPr/>
          <p:nvPr/>
        </p:nvSpPr>
        <p:spPr>
          <a:xfrm>
            <a:off x="3487894" y="7642593"/>
            <a:ext cx="706671"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Users</a:t>
            </a:r>
            <a:endParaRPr lang="en-US" sz="1800" dirty="0"/>
          </a:p>
        </p:txBody>
      </p:sp>
      <p:sp>
        <p:nvSpPr>
          <p:cNvPr id="18" name="Shape 13"/>
          <p:cNvSpPr/>
          <p:nvPr/>
        </p:nvSpPr>
        <p:spPr>
          <a:xfrm>
            <a:off x="1379705" y="8101072"/>
            <a:ext cx="2759025" cy="447638"/>
          </a:xfrm>
          <a:prstGeom prst="roundRect">
            <a:avLst>
              <a:gd name="adj" fmla="val 12767"/>
            </a:avLst>
          </a:prstGeom>
          <a:ln w="8204">
            <a:solidFill>
              <a:srgbClr val="30363D"/>
            </a:solidFill>
            <a:prstDash val="solid"/>
          </a:ln>
        </p:spPr>
        <p:txBody>
          <a:bodyPr/>
          <a:lstStyle/>
          <a:p>
            <a:endParaRPr lang="en-US"/>
          </a:p>
        </p:txBody>
      </p:sp>
      <p:sp>
        <p:nvSpPr>
          <p:cNvPr id="19" name="Text 14"/>
          <p:cNvSpPr/>
          <p:nvPr/>
        </p:nvSpPr>
        <p:spPr>
          <a:xfrm>
            <a:off x="1540309" y="8185476"/>
            <a:ext cx="2520588"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Connected workspace</a:t>
            </a:r>
            <a:endParaRPr lang="en-US" sz="1800" dirty="0"/>
          </a:p>
        </p:txBody>
      </p:sp>
      <p:sp>
        <p:nvSpPr>
          <p:cNvPr id="20" name="Shape 15"/>
          <p:cNvSpPr/>
          <p:nvPr/>
        </p:nvSpPr>
        <p:spPr>
          <a:xfrm>
            <a:off x="6527672" y="3828896"/>
            <a:ext cx="5232572" cy="5051825"/>
          </a:xfrm>
          <a:prstGeom prst="roundRect">
            <a:avLst>
              <a:gd name="adj" fmla="val 1508"/>
            </a:avLst>
          </a:prstGeom>
          <a:solidFill>
            <a:srgbClr val="FF6B00">
              <a:alpha val="10000"/>
            </a:srgbClr>
          </a:solidFill>
          <a:ln w="8204">
            <a:solidFill>
              <a:srgbClr val="FF6B00"/>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9684" y="4160907"/>
            <a:ext cx="399952" cy="399952"/>
          </a:xfrm>
          <a:prstGeom prst="rect">
            <a:avLst/>
          </a:prstGeom>
        </p:spPr>
      </p:pic>
      <p:sp>
        <p:nvSpPr>
          <p:cNvPr id="22" name="Text 16"/>
          <p:cNvSpPr/>
          <p:nvPr/>
        </p:nvSpPr>
        <p:spPr>
          <a:xfrm>
            <a:off x="6859684" y="4784165"/>
            <a:ext cx="5025405"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Pay per use</a:t>
            </a:r>
            <a:endParaRPr lang="en-US" sz="1800" dirty="0"/>
          </a:p>
        </p:txBody>
      </p:sp>
      <p:sp>
        <p:nvSpPr>
          <p:cNvPr id="23" name="Text 17"/>
          <p:cNvSpPr/>
          <p:nvPr/>
        </p:nvSpPr>
        <p:spPr>
          <a:xfrm>
            <a:off x="6859684" y="5120150"/>
            <a:ext cx="5025405" cy="399082"/>
          </a:xfrm>
          <a:prstGeom prst="rect">
            <a:avLst/>
          </a:prstGeom>
          <a:noFill/>
          <a:ln/>
        </p:spPr>
        <p:txBody>
          <a:bodyPr wrap="square" lIns="25400" tIns="25400" rIns="25400" bIns="25400" rtlCol="0" anchor="t">
            <a:normAutofit/>
          </a:bodyPr>
          <a:lstStyle/>
          <a:p>
            <a:pPr marL="0" indent="0" algn="l">
              <a:buNone/>
            </a:pPr>
            <a:r>
              <a:rPr lang="en-US" sz="2250" b="1" kern="0" spc="-22" dirty="0">
                <a:solidFill>
                  <a:srgbClr val="F0F6FC"/>
                </a:solidFill>
                <a:latin typeface="Space Grotesk" pitchFamily="34" charset="0"/>
                <a:ea typeface="Space Grotesk" pitchFamily="34" charset="-122"/>
                <a:cs typeface="Space Grotesk" pitchFamily="34" charset="-120"/>
              </a:rPr>
              <a:t>Intelligence consumption</a:t>
            </a:r>
            <a:endParaRPr lang="en-US" sz="2250" dirty="0"/>
          </a:p>
        </p:txBody>
      </p:sp>
      <p:sp>
        <p:nvSpPr>
          <p:cNvPr id="24" name="Text 18"/>
          <p:cNvSpPr/>
          <p:nvPr/>
        </p:nvSpPr>
        <p:spPr>
          <a:xfrm>
            <a:off x="6859684" y="5595349"/>
            <a:ext cx="5025405"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Usage grows with</a:t>
            </a:r>
            <a:endParaRPr lang="en-US" sz="180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9684" y="6019529"/>
            <a:ext cx="190490" cy="190490"/>
          </a:xfrm>
          <a:prstGeom prst="rect">
            <a:avLst/>
          </a:prstGeom>
        </p:spPr>
      </p:pic>
      <p:sp>
        <p:nvSpPr>
          <p:cNvPr id="26" name="Text 19"/>
          <p:cNvSpPr/>
          <p:nvPr/>
        </p:nvSpPr>
        <p:spPr>
          <a:xfrm>
            <a:off x="7145418" y="5988507"/>
            <a:ext cx="1922002"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Context requests</a:t>
            </a:r>
            <a:endParaRPr lang="en-US" sz="1800"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9684" y="6374614"/>
            <a:ext cx="190490" cy="190490"/>
          </a:xfrm>
          <a:prstGeom prst="rect">
            <a:avLst/>
          </a:prstGeom>
        </p:spPr>
      </p:pic>
      <p:sp>
        <p:nvSpPr>
          <p:cNvPr id="28" name="Text 20"/>
          <p:cNvSpPr/>
          <p:nvPr/>
        </p:nvSpPr>
        <p:spPr>
          <a:xfrm>
            <a:off x="7145418" y="6343592"/>
            <a:ext cx="2098392"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AI agents powered</a:t>
            </a:r>
            <a:endParaRPr lang="en-US" sz="180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59684" y="6729699"/>
            <a:ext cx="190490" cy="190490"/>
          </a:xfrm>
          <a:prstGeom prst="rect">
            <a:avLst/>
          </a:prstGeom>
        </p:spPr>
      </p:pic>
      <p:sp>
        <p:nvSpPr>
          <p:cNvPr id="30" name="Text 21"/>
          <p:cNvSpPr/>
          <p:nvPr/>
        </p:nvSpPr>
        <p:spPr>
          <a:xfrm>
            <a:off x="7145418" y="6698677"/>
            <a:ext cx="2183125"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Memory operations</a:t>
            </a:r>
            <a:endParaRPr lang="en-US" sz="1800" dirty="0"/>
          </a:p>
        </p:txBody>
      </p:sp>
      <p:sp>
        <p:nvSpPr>
          <p:cNvPr id="31" name="Text 22"/>
          <p:cNvSpPr/>
          <p:nvPr/>
        </p:nvSpPr>
        <p:spPr>
          <a:xfrm>
            <a:off x="6859684" y="8269769"/>
            <a:ext cx="1543843" cy="317041"/>
          </a:xfrm>
          <a:prstGeom prst="rect">
            <a:avLst/>
          </a:prstGeom>
          <a:noFill/>
          <a:ln/>
        </p:spPr>
        <p:txBody>
          <a:bodyPr wrap="square" lIns="0" tIns="0" rIns="0" bIns="0" rtlCol="0" anchor="t">
            <a:normAutofit/>
          </a:bodyPr>
          <a:lstStyle/>
          <a:p>
            <a:pPr marL="0" indent="0" algn="l">
              <a:buNone/>
            </a:pPr>
            <a:r>
              <a:rPr lang="en-US" sz="1800" b="1" dirty="0">
                <a:solidFill>
                  <a:srgbClr val="F0F6FC"/>
                </a:solidFill>
                <a:latin typeface="Inter" pitchFamily="34" charset="0"/>
                <a:ea typeface="Inter" pitchFamily="34" charset="-122"/>
                <a:cs typeface="Inter" pitchFamily="34" charset="-120"/>
              </a:rPr>
              <a:t>More AI work</a:t>
            </a:r>
            <a:endParaRPr lang="en-US" sz="1800" dirty="0"/>
          </a:p>
        </p:txBody>
      </p:sp>
      <p:pic>
        <p:nvPicPr>
          <p:cNvPr id="32"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41543" y="8342581"/>
            <a:ext cx="323807" cy="133317"/>
          </a:xfrm>
          <a:prstGeom prst="rect">
            <a:avLst/>
          </a:prstGeom>
        </p:spPr>
      </p:pic>
      <p:sp>
        <p:nvSpPr>
          <p:cNvPr id="33" name="Text 23"/>
          <p:cNvSpPr/>
          <p:nvPr/>
        </p:nvSpPr>
        <p:spPr>
          <a:xfrm>
            <a:off x="8879567" y="8269769"/>
            <a:ext cx="2002378" cy="317041"/>
          </a:xfrm>
          <a:prstGeom prst="rect">
            <a:avLst/>
          </a:prstGeom>
          <a:noFill/>
          <a:ln/>
        </p:spPr>
        <p:txBody>
          <a:bodyPr wrap="square" lIns="0" tIns="0" rIns="0" bIns="0" rtlCol="0" anchor="t">
            <a:normAutofit/>
          </a:bodyPr>
          <a:lstStyle/>
          <a:p>
            <a:pPr marL="0" indent="0" algn="l">
              <a:buNone/>
            </a:pPr>
            <a:r>
              <a:rPr lang="en-US" sz="1800" b="1" dirty="0">
                <a:solidFill>
                  <a:srgbClr val="F0F6FC"/>
                </a:solidFill>
                <a:latin typeface="Inter" pitchFamily="34" charset="0"/>
                <a:ea typeface="Inter" pitchFamily="34" charset="-122"/>
                <a:cs typeface="Inter" pitchFamily="34" charset="-120"/>
              </a:rPr>
              <a:t>more Brain usage</a:t>
            </a:r>
            <a:endParaRPr lang="en-US" sz="1800" dirty="0"/>
          </a:p>
        </p:txBody>
      </p:sp>
      <p:sp>
        <p:nvSpPr>
          <p:cNvPr id="34" name="Shape 24"/>
          <p:cNvSpPr/>
          <p:nvPr/>
        </p:nvSpPr>
        <p:spPr>
          <a:xfrm>
            <a:off x="12007779" y="3828896"/>
            <a:ext cx="5232444" cy="5051825"/>
          </a:xfrm>
          <a:prstGeom prst="roundRect">
            <a:avLst>
              <a:gd name="adj" fmla="val 1508"/>
            </a:avLst>
          </a:prstGeom>
          <a:solidFill>
            <a:srgbClr val="1A2B3C"/>
          </a:solidFill>
          <a:ln w="8204">
            <a:solidFill>
              <a:srgbClr val="30363D"/>
            </a:solidFill>
            <a:prstDash val="solid"/>
          </a:ln>
        </p:spPr>
        <p:txBody>
          <a:bodyPr/>
          <a:lstStyle/>
          <a:p>
            <a:endParaRPr lang="en-US"/>
          </a:p>
        </p:txBody>
      </p:sp>
      <p:pic>
        <p:nvPicPr>
          <p:cNvPr id="35"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339790" y="4160907"/>
            <a:ext cx="399952" cy="399952"/>
          </a:xfrm>
          <a:prstGeom prst="rect">
            <a:avLst/>
          </a:prstGeom>
        </p:spPr>
      </p:pic>
      <p:sp>
        <p:nvSpPr>
          <p:cNvPr id="36" name="Text 25"/>
          <p:cNvSpPr/>
          <p:nvPr/>
        </p:nvSpPr>
        <p:spPr>
          <a:xfrm>
            <a:off x="12339790" y="4784165"/>
            <a:ext cx="50252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Enterprise</a:t>
            </a:r>
            <a:endParaRPr lang="en-US" sz="1800" dirty="0"/>
          </a:p>
        </p:txBody>
      </p:sp>
      <p:sp>
        <p:nvSpPr>
          <p:cNvPr id="37" name="Text 26"/>
          <p:cNvSpPr/>
          <p:nvPr/>
        </p:nvSpPr>
        <p:spPr>
          <a:xfrm>
            <a:off x="12339790" y="5120150"/>
            <a:ext cx="5025264" cy="399082"/>
          </a:xfrm>
          <a:prstGeom prst="rect">
            <a:avLst/>
          </a:prstGeom>
          <a:noFill/>
          <a:ln/>
        </p:spPr>
        <p:txBody>
          <a:bodyPr wrap="square" lIns="25400" tIns="25400" rIns="25400" bIns="25400" rtlCol="0" anchor="t">
            <a:normAutofit/>
          </a:bodyPr>
          <a:lstStyle/>
          <a:p>
            <a:pPr marL="0" indent="0" algn="l">
              <a:buNone/>
            </a:pPr>
            <a:r>
              <a:rPr lang="en-US" sz="2250" b="1" kern="0" spc="-22" dirty="0">
                <a:solidFill>
                  <a:srgbClr val="F0F6FC"/>
                </a:solidFill>
                <a:latin typeface="Space Grotesk" pitchFamily="34" charset="0"/>
                <a:ea typeface="Space Grotesk" pitchFamily="34" charset="-122"/>
                <a:cs typeface="Space Grotesk" pitchFamily="34" charset="-120"/>
              </a:rPr>
              <a:t>Large organization deployment</a:t>
            </a:r>
            <a:endParaRPr lang="en-US" sz="2250" dirty="0"/>
          </a:p>
        </p:txBody>
      </p:sp>
      <p:sp>
        <p:nvSpPr>
          <p:cNvPr id="38" name="Shape 27"/>
          <p:cNvSpPr/>
          <p:nvPr/>
        </p:nvSpPr>
        <p:spPr>
          <a:xfrm>
            <a:off x="12339790" y="7558189"/>
            <a:ext cx="1633264" cy="447638"/>
          </a:xfrm>
          <a:prstGeom prst="roundRect">
            <a:avLst>
              <a:gd name="adj" fmla="val 12767"/>
            </a:avLst>
          </a:prstGeom>
          <a:ln w="8204">
            <a:solidFill>
              <a:srgbClr val="30363D"/>
            </a:solidFill>
            <a:prstDash val="solid"/>
          </a:ln>
        </p:spPr>
        <p:txBody>
          <a:bodyPr/>
          <a:lstStyle/>
          <a:p>
            <a:endParaRPr lang="en-US"/>
          </a:p>
        </p:txBody>
      </p:sp>
      <p:sp>
        <p:nvSpPr>
          <p:cNvPr id="39" name="Text 28"/>
          <p:cNvSpPr/>
          <p:nvPr/>
        </p:nvSpPr>
        <p:spPr>
          <a:xfrm>
            <a:off x="12500394" y="7642593"/>
            <a:ext cx="1388256"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Governance</a:t>
            </a:r>
            <a:endParaRPr lang="en-US" sz="1800" dirty="0"/>
          </a:p>
        </p:txBody>
      </p:sp>
      <p:sp>
        <p:nvSpPr>
          <p:cNvPr id="40" name="Shape 29"/>
          <p:cNvSpPr/>
          <p:nvPr/>
        </p:nvSpPr>
        <p:spPr>
          <a:xfrm>
            <a:off x="14068299" y="7558189"/>
            <a:ext cx="1218058" cy="447638"/>
          </a:xfrm>
          <a:prstGeom prst="roundRect">
            <a:avLst>
              <a:gd name="adj" fmla="val 12767"/>
            </a:avLst>
          </a:prstGeom>
          <a:ln w="8204">
            <a:solidFill>
              <a:srgbClr val="30363D"/>
            </a:solidFill>
            <a:prstDash val="solid"/>
          </a:ln>
        </p:spPr>
        <p:txBody>
          <a:bodyPr/>
          <a:lstStyle/>
          <a:p>
            <a:endParaRPr lang="en-US"/>
          </a:p>
        </p:txBody>
      </p:sp>
      <p:sp>
        <p:nvSpPr>
          <p:cNvPr id="41" name="Text 30"/>
          <p:cNvSpPr/>
          <p:nvPr/>
        </p:nvSpPr>
        <p:spPr>
          <a:xfrm>
            <a:off x="14228904" y="7642593"/>
            <a:ext cx="973050"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Security</a:t>
            </a:r>
            <a:endParaRPr lang="en-US" sz="1800" dirty="0"/>
          </a:p>
        </p:txBody>
      </p:sp>
      <p:sp>
        <p:nvSpPr>
          <p:cNvPr id="42" name="Shape 31"/>
          <p:cNvSpPr/>
          <p:nvPr/>
        </p:nvSpPr>
        <p:spPr>
          <a:xfrm>
            <a:off x="12339790" y="8101072"/>
            <a:ext cx="1600704" cy="447638"/>
          </a:xfrm>
          <a:prstGeom prst="roundRect">
            <a:avLst>
              <a:gd name="adj" fmla="val 12767"/>
            </a:avLst>
          </a:prstGeom>
          <a:ln w="8204">
            <a:solidFill>
              <a:srgbClr val="30363D"/>
            </a:solidFill>
            <a:prstDash val="solid"/>
          </a:ln>
        </p:spPr>
        <p:txBody>
          <a:bodyPr/>
          <a:lstStyle/>
          <a:p>
            <a:endParaRPr lang="en-US"/>
          </a:p>
        </p:txBody>
      </p:sp>
      <p:sp>
        <p:nvSpPr>
          <p:cNvPr id="43" name="Text 32"/>
          <p:cNvSpPr/>
          <p:nvPr/>
        </p:nvSpPr>
        <p:spPr>
          <a:xfrm>
            <a:off x="12500394" y="8185476"/>
            <a:ext cx="1355696"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Integrations</a:t>
            </a:r>
            <a:endParaRPr lang="en-US" sz="1800" dirty="0"/>
          </a:p>
        </p:txBody>
      </p:sp>
      <p:sp>
        <p:nvSpPr>
          <p:cNvPr id="44" name="Shape 33"/>
          <p:cNvSpPr/>
          <p:nvPr/>
        </p:nvSpPr>
        <p:spPr>
          <a:xfrm>
            <a:off x="14035739" y="8101072"/>
            <a:ext cx="2409324" cy="447638"/>
          </a:xfrm>
          <a:prstGeom prst="roundRect">
            <a:avLst>
              <a:gd name="adj" fmla="val 12767"/>
            </a:avLst>
          </a:prstGeom>
          <a:ln w="8204">
            <a:solidFill>
              <a:srgbClr val="30363D"/>
            </a:solidFill>
            <a:prstDash val="solid"/>
          </a:ln>
        </p:spPr>
        <p:txBody>
          <a:bodyPr/>
          <a:lstStyle/>
          <a:p>
            <a:endParaRPr lang="en-US"/>
          </a:p>
        </p:txBody>
      </p:sp>
      <p:sp>
        <p:nvSpPr>
          <p:cNvPr id="45" name="Text 34"/>
          <p:cNvSpPr/>
          <p:nvPr/>
        </p:nvSpPr>
        <p:spPr>
          <a:xfrm>
            <a:off x="14196343" y="8185476"/>
            <a:ext cx="2164316"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Private deployment</a:t>
            </a:r>
            <a:endParaRPr lang="en-US" sz="1800" dirty="0"/>
          </a:p>
        </p:txBody>
      </p:sp>
      <p:sp>
        <p:nvSpPr>
          <p:cNvPr id="46" name="Text 35"/>
          <p:cNvSpPr/>
          <p:nvPr/>
        </p:nvSpPr>
        <p:spPr>
          <a:xfrm>
            <a:off x="1047694" y="9147356"/>
            <a:ext cx="17811782" cy="472919"/>
          </a:xfrm>
          <a:prstGeom prst="rect">
            <a:avLst/>
          </a:prstGeom>
          <a:noFill/>
          <a:ln/>
        </p:spPr>
        <p:txBody>
          <a:bodyPr wrap="square" lIns="25400" tIns="25400" rIns="25400" bIns="25400" rtlCol="0" anchor="t">
            <a:normAutofit/>
          </a:bodyPr>
          <a:lstStyle/>
          <a:p>
            <a:pPr marL="0" indent="0" algn="l">
              <a:buNone/>
            </a:pPr>
            <a:r>
              <a:rPr lang="en-US" sz="2700" b="1" kern="0" spc="-54" dirty="0">
                <a:solidFill>
                  <a:srgbClr val="F0F6FC"/>
                </a:solidFill>
                <a:latin typeface="Space Grotesk" pitchFamily="34" charset="0"/>
                <a:ea typeface="Space Grotesk" pitchFamily="34" charset="-122"/>
                <a:cs typeface="Space Grotesk" pitchFamily="34" charset="-120"/>
              </a:rPr>
              <a:t>As companies depend more on AI, their </a:t>
            </a:r>
            <a:r>
              <a:rPr lang="en-US" sz="2700" b="1" kern="0" spc="-54" dirty="0">
                <a:solidFill>
                  <a:srgbClr val="FF6B00"/>
                </a:solidFill>
                <a:latin typeface="Space Grotesk" pitchFamily="34" charset="0"/>
                <a:ea typeface="Space Grotesk" pitchFamily="34" charset="-122"/>
                <a:cs typeface="Space Grotesk" pitchFamily="34" charset="-120"/>
              </a:rPr>
              <a:t>Company Brain becomes more valuable.</a:t>
            </a:r>
            <a:endParaRPr lang="en-US" sz="2700" dirty="0"/>
          </a:p>
        </p:txBody>
      </p:sp>
      <p:pic>
        <p:nvPicPr>
          <p:cNvPr id="47" name="Picture 46">
            <a:extLst>
              <a:ext uri="{FF2B5EF4-FFF2-40B4-BE49-F238E27FC236}">
                <a16:creationId xmlns:a16="http://schemas.microsoft.com/office/drawing/2014/main" id="{D9D7BD2C-8D0C-E61C-86EA-7930D27C2082}"/>
              </a:ext>
            </a:extLst>
          </p:cNvPr>
          <p:cNvPicPr>
            <a:picLocks noChangeAspect="1"/>
          </p:cNvPicPr>
          <p:nvPr/>
        </p:nvPicPr>
        <p:blipFill>
          <a:blip r:embed="rId11"/>
          <a:stretch>
            <a:fillRect/>
          </a:stretch>
        </p:blipFill>
        <p:spPr>
          <a:xfrm>
            <a:off x="15314892" y="565831"/>
            <a:ext cx="2293110" cy="1288727"/>
          </a:xfrm>
          <a:prstGeom prst="rect">
            <a:avLst/>
          </a:prstGeom>
        </p:spPr>
      </p:pic>
      <p:sp>
        <p:nvSpPr>
          <p:cNvPr id="51" name="Shape 11">
            <a:extLst>
              <a:ext uri="{FF2B5EF4-FFF2-40B4-BE49-F238E27FC236}">
                <a16:creationId xmlns:a16="http://schemas.microsoft.com/office/drawing/2014/main" id="{77BB9E6B-D56D-B611-5B2B-1A7431D36034}"/>
              </a:ext>
            </a:extLst>
          </p:cNvPr>
          <p:cNvSpPr/>
          <p:nvPr/>
        </p:nvSpPr>
        <p:spPr>
          <a:xfrm>
            <a:off x="7740069" y="2152607"/>
            <a:ext cx="2633656" cy="681969"/>
          </a:xfrm>
          <a:prstGeom prst="roundRect">
            <a:avLst>
              <a:gd name="adj" fmla="val 11174"/>
            </a:avLst>
          </a:prstGeom>
          <a:noFill/>
          <a:ln w="8204">
            <a:solidFill>
              <a:srgbClr val="FF6B00"/>
            </a:solidFill>
            <a:prstDash val="solid"/>
          </a:ln>
        </p:spPr>
        <p:txBody>
          <a:bodyPr/>
          <a:lstStyle/>
          <a:p>
            <a:endParaRPr lang="en-US" dirty="0">
              <a:highlight>
                <a:srgbClr val="FFFF00"/>
              </a:highlight>
            </a:endParaRPr>
          </a:p>
        </p:txBody>
      </p:sp>
      <p:sp>
        <p:nvSpPr>
          <p:cNvPr id="52" name="Text 12">
            <a:extLst>
              <a:ext uri="{FF2B5EF4-FFF2-40B4-BE49-F238E27FC236}">
                <a16:creationId xmlns:a16="http://schemas.microsoft.com/office/drawing/2014/main" id="{1EB874F3-618D-AC38-4A6B-95BFD85E27E4}"/>
              </a:ext>
            </a:extLst>
          </p:cNvPr>
          <p:cNvSpPr/>
          <p:nvPr/>
        </p:nvSpPr>
        <p:spPr>
          <a:xfrm>
            <a:off x="8406861" y="2305017"/>
            <a:ext cx="1843364" cy="498362"/>
          </a:xfrm>
          <a:prstGeom prst="rect">
            <a:avLst/>
          </a:prstGeom>
          <a:noFill/>
          <a:ln/>
        </p:spPr>
        <p:txBody>
          <a:bodyPr wrap="square" lIns="25400" tIns="25400" rIns="25400" bIns="25400" rtlCol="0" anchor="t">
            <a:normAutofit/>
          </a:bodyPr>
          <a:lstStyle/>
          <a:p>
            <a:pPr marL="0" indent="0" algn="l">
              <a:buNone/>
            </a:pPr>
            <a:r>
              <a:rPr lang="en-US" sz="2400" b="1" kern="0" spc="-22" dirty="0" err="1">
                <a:solidFill>
                  <a:schemeClr val="bg1"/>
                </a:solidFill>
                <a:latin typeface="Space Grotesk" pitchFamily="34" charset="0"/>
                <a:ea typeface="Space Grotesk" pitchFamily="34" charset="-122"/>
                <a:cs typeface="Space Grotesk" pitchFamily="34" charset="-120"/>
              </a:rPr>
              <a:t>ZeroManual</a:t>
            </a:r>
            <a:endParaRPr lang="en-US" sz="2400" dirty="0">
              <a:solidFill>
                <a:schemeClr val="bg1"/>
              </a:solidFill>
            </a:endParaRPr>
          </a:p>
        </p:txBody>
      </p:sp>
      <p:pic>
        <p:nvPicPr>
          <p:cNvPr id="53" name="Image 0" descr="preencoded.png">
            <a:extLst>
              <a:ext uri="{FF2B5EF4-FFF2-40B4-BE49-F238E27FC236}">
                <a16:creationId xmlns:a16="http://schemas.microsoft.com/office/drawing/2014/main" id="{012150E7-DD39-27C4-CB16-0CB540DA8A77}"/>
              </a:ext>
            </a:extLst>
          </p:cNvPr>
          <p:cNvPicPr>
            <a:picLocks noChangeAspect="1"/>
          </p:cNvPicPr>
          <p:nvPr/>
        </p:nvPicPr>
        <p:blipFill>
          <a:blip r:embed="rId12"/>
          <a:stretch>
            <a:fillRect/>
          </a:stretch>
        </p:blipFill>
        <p:spPr>
          <a:xfrm>
            <a:off x="7918487" y="2253501"/>
            <a:ext cx="415039" cy="4150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WHERE WE ARE</a:t>
            </a:r>
            <a:endParaRPr lang="en-US" sz="1800" dirty="0"/>
          </a:p>
        </p:txBody>
      </p:sp>
      <p:sp>
        <p:nvSpPr>
          <p:cNvPr id="3" name="Text 1"/>
          <p:cNvSpPr/>
          <p:nvPr/>
        </p:nvSpPr>
        <p:spPr>
          <a:xfrm>
            <a:off x="1047694" y="1334839"/>
            <a:ext cx="17811782" cy="669818"/>
          </a:xfrm>
          <a:prstGeom prst="rect">
            <a:avLst/>
          </a:prstGeom>
          <a:noFill/>
          <a:ln/>
        </p:spPr>
        <p:txBody>
          <a:bodyPr wrap="square" lIns="25400" tIns="25400" rIns="25400" bIns="25400" rtlCol="0" anchor="t">
            <a:normAutofit/>
          </a:bodyPr>
          <a:lstStyle/>
          <a:p>
            <a:pPr marL="0" indent="0" algn="l">
              <a:buNone/>
            </a:pPr>
            <a:r>
              <a:rPr lang="en-US" sz="3900" b="1" kern="0" spc="-78" dirty="0">
                <a:solidFill>
                  <a:srgbClr val="F0F6FC"/>
                </a:solidFill>
                <a:latin typeface="Space Grotesk" pitchFamily="34" charset="0"/>
                <a:ea typeface="Space Grotesk" pitchFamily="34" charset="-122"/>
                <a:cs typeface="Space Grotesk" pitchFamily="34" charset="-120"/>
              </a:rPr>
              <a:t>Building the foundation for self-driving companies.</a:t>
            </a:r>
            <a:endParaRPr lang="en-US" sz="3900" dirty="0"/>
          </a:p>
        </p:txBody>
      </p:sp>
      <p:sp>
        <p:nvSpPr>
          <p:cNvPr id="4" name="Text 2"/>
          <p:cNvSpPr/>
          <p:nvPr/>
        </p:nvSpPr>
        <p:spPr>
          <a:xfrm>
            <a:off x="1047694" y="2347537"/>
            <a:ext cx="8675413"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Built</a:t>
            </a:r>
            <a:endParaRPr lang="en-US" sz="2025"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694" y="2853886"/>
            <a:ext cx="247534" cy="247534"/>
          </a:xfrm>
          <a:prstGeom prst="rect">
            <a:avLst/>
          </a:prstGeom>
        </p:spPr>
      </p:pic>
      <p:sp>
        <p:nvSpPr>
          <p:cNvPr id="6" name="Text 3"/>
          <p:cNvSpPr/>
          <p:nvPr/>
        </p:nvSpPr>
        <p:spPr>
          <a:xfrm>
            <a:off x="1447517" y="2830683"/>
            <a:ext cx="3747426"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Company Brain architecture</a:t>
            </a:r>
            <a:endParaRPr lang="en-US" sz="2175"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694" y="3323572"/>
            <a:ext cx="247534" cy="247534"/>
          </a:xfrm>
          <a:prstGeom prst="rect">
            <a:avLst/>
          </a:prstGeom>
        </p:spPr>
      </p:pic>
      <p:sp>
        <p:nvSpPr>
          <p:cNvPr id="8" name="Text 4"/>
          <p:cNvSpPr/>
          <p:nvPr/>
        </p:nvSpPr>
        <p:spPr>
          <a:xfrm>
            <a:off x="1447517" y="3300370"/>
            <a:ext cx="4168355"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Organizational memory system</a:t>
            </a:r>
            <a:endParaRPr lang="en-US" sz="2175"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694" y="3793259"/>
            <a:ext cx="247534" cy="247534"/>
          </a:xfrm>
          <a:prstGeom prst="rect">
            <a:avLst/>
          </a:prstGeom>
        </p:spPr>
      </p:pic>
      <p:sp>
        <p:nvSpPr>
          <p:cNvPr id="10" name="Text 5"/>
          <p:cNvSpPr/>
          <p:nvPr/>
        </p:nvSpPr>
        <p:spPr>
          <a:xfrm>
            <a:off x="1447517" y="3770057"/>
            <a:ext cx="2457322"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Intelligence model</a:t>
            </a:r>
            <a:endParaRPr lang="en-US" sz="2175"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694" y="4262946"/>
            <a:ext cx="247534" cy="247534"/>
          </a:xfrm>
          <a:prstGeom prst="rect">
            <a:avLst/>
          </a:prstGeom>
        </p:spPr>
      </p:pic>
      <p:sp>
        <p:nvSpPr>
          <p:cNvPr id="12" name="Text 6"/>
          <p:cNvSpPr/>
          <p:nvPr/>
        </p:nvSpPr>
        <p:spPr>
          <a:xfrm>
            <a:off x="1447517" y="4239744"/>
            <a:ext cx="3356074"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Trust &amp; governance layer</a:t>
            </a:r>
            <a:endParaRPr lang="en-US" sz="2175" dirty="0"/>
          </a:p>
        </p:txBody>
      </p:sp>
      <p:sp>
        <p:nvSpPr>
          <p:cNvPr id="13" name="Text 7"/>
          <p:cNvSpPr/>
          <p:nvPr/>
        </p:nvSpPr>
        <p:spPr>
          <a:xfrm>
            <a:off x="9353484" y="2347537"/>
            <a:ext cx="8675413"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Now</a:t>
            </a:r>
            <a:endParaRPr lang="en-US" sz="2025" dirty="0"/>
          </a:p>
        </p:txBody>
      </p:sp>
      <p:sp>
        <p:nvSpPr>
          <p:cNvPr id="14" name="Shape 8"/>
          <p:cNvSpPr/>
          <p:nvPr/>
        </p:nvSpPr>
        <p:spPr>
          <a:xfrm>
            <a:off x="9353484" y="2830683"/>
            <a:ext cx="7886739" cy="868100"/>
          </a:xfrm>
          <a:prstGeom prst="roundRect">
            <a:avLst>
              <a:gd name="adj" fmla="val 8778"/>
            </a:avLst>
          </a:prstGeom>
          <a:solidFill>
            <a:srgbClr val="FF6B00">
              <a:alpha val="10000"/>
            </a:srgbClr>
          </a:solidFill>
          <a:ln w="8204">
            <a:solidFill>
              <a:srgbClr val="FF6B00"/>
            </a:solidFill>
            <a:prstDash val="solid"/>
          </a:ln>
        </p:spPr>
        <p:txBody>
          <a:bodyPr/>
          <a:lstStyle/>
          <a:p>
            <a:endParaRPr lang="en-US"/>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47423" y="3086422"/>
            <a:ext cx="323807" cy="323807"/>
          </a:xfrm>
          <a:prstGeom prst="rect">
            <a:avLst/>
          </a:prstGeom>
        </p:spPr>
      </p:pic>
      <p:sp>
        <p:nvSpPr>
          <p:cNvPr id="16" name="Text 9"/>
          <p:cNvSpPr/>
          <p:nvPr/>
        </p:nvSpPr>
        <p:spPr>
          <a:xfrm>
            <a:off x="10142619" y="3092447"/>
            <a:ext cx="4964489" cy="382674"/>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0F6FC"/>
                </a:solidFill>
                <a:latin typeface="Inter" pitchFamily="34" charset="0"/>
                <a:ea typeface="Inter" pitchFamily="34" charset="-122"/>
                <a:cs typeface="Inter" pitchFamily="34" charset="-120"/>
              </a:rPr>
              <a:t>Building first technical prototype</a:t>
            </a:r>
            <a:endParaRPr lang="en-US" sz="2250" dirty="0"/>
          </a:p>
        </p:txBody>
      </p:sp>
      <p:sp>
        <p:nvSpPr>
          <p:cNvPr id="17" name="Text 10"/>
          <p:cNvSpPr/>
          <p:nvPr/>
        </p:nvSpPr>
        <p:spPr>
          <a:xfrm>
            <a:off x="9353484" y="3927346"/>
            <a:ext cx="8675413"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8B949E"/>
                </a:solidFill>
                <a:latin typeface="Inter" pitchFamily="34" charset="0"/>
                <a:ea typeface="Inter" pitchFamily="34" charset="-122"/>
                <a:cs typeface="Inter" pitchFamily="34" charset="-120"/>
              </a:rPr>
              <a:t>Not raising.</a:t>
            </a:r>
            <a:endParaRPr lang="en-US" sz="1875" dirty="0"/>
          </a:p>
        </p:txBody>
      </p:sp>
      <p:sp>
        <p:nvSpPr>
          <p:cNvPr id="18" name="Text 11"/>
          <p:cNvSpPr/>
          <p:nvPr/>
        </p:nvSpPr>
        <p:spPr>
          <a:xfrm>
            <a:off x="9353484" y="4328707"/>
            <a:ext cx="8123341" cy="61239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8B949E"/>
                </a:solidFill>
                <a:latin typeface="Inter" pitchFamily="34" charset="0"/>
                <a:ea typeface="Inter" pitchFamily="34" charset="-122"/>
                <a:cs typeface="Inter" pitchFamily="34" charset="-120"/>
              </a:rPr>
              <a:t>Sharing early with people thinking about the future of AI-native companies.</a:t>
            </a:r>
            <a:endParaRPr lang="en-US" sz="1875" dirty="0"/>
          </a:p>
        </p:txBody>
      </p:sp>
      <p:sp>
        <p:nvSpPr>
          <p:cNvPr id="19" name="Text 12"/>
          <p:cNvSpPr/>
          <p:nvPr/>
        </p:nvSpPr>
        <p:spPr>
          <a:xfrm>
            <a:off x="1047694" y="7489992"/>
            <a:ext cx="17811782" cy="541885"/>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450" b="1" kern="0" spc="-69" dirty="0">
                <a:solidFill>
                  <a:srgbClr val="8B949E"/>
                </a:solidFill>
                <a:latin typeface="Space Grotesk" pitchFamily="34" charset="0"/>
                <a:ea typeface="Space Grotesk" pitchFamily="34" charset="-122"/>
                <a:cs typeface="Space Grotesk" pitchFamily="34" charset="-120"/>
              </a:rPr>
              <a:t>Today companies use intelligence.</a:t>
            </a:r>
            <a:endParaRPr lang="en-US" sz="3450" dirty="0"/>
          </a:p>
        </p:txBody>
      </p:sp>
      <p:sp>
        <p:nvSpPr>
          <p:cNvPr id="20" name="Text 13"/>
          <p:cNvSpPr/>
          <p:nvPr/>
        </p:nvSpPr>
        <p:spPr>
          <a:xfrm>
            <a:off x="1047694" y="8069921"/>
            <a:ext cx="17811782" cy="77878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62" dirty="0">
                <a:solidFill>
                  <a:srgbClr val="FF6B00"/>
                </a:solidFill>
                <a:latin typeface="Space Grotesk" pitchFamily="34" charset="0"/>
                <a:ea typeface="Space Grotesk" pitchFamily="34" charset="-122"/>
                <a:cs typeface="Space Grotesk" pitchFamily="34" charset="-120"/>
              </a:rPr>
              <a:t>Tomorrow companies become intelligent.</a:t>
            </a:r>
            <a:endParaRPr lang="en-US" sz="5400" dirty="0"/>
          </a:p>
        </p:txBody>
      </p:sp>
      <p:sp>
        <p:nvSpPr>
          <p:cNvPr id="21" name="Text 14"/>
          <p:cNvSpPr/>
          <p:nvPr/>
        </p:nvSpPr>
        <p:spPr>
          <a:xfrm>
            <a:off x="1047694" y="9134408"/>
            <a:ext cx="3620536" cy="333449"/>
          </a:xfrm>
          <a:prstGeom prst="rect">
            <a:avLst/>
          </a:prstGeom>
          <a:noFill/>
          <a:ln/>
        </p:spPr>
        <p:txBody>
          <a:bodyPr wrap="square" lIns="25400" tIns="25400" rIns="25400" bIns="25400" rtlCol="0" anchor="t">
            <a:normAutofit/>
          </a:bodyPr>
          <a:lstStyle/>
          <a:p>
            <a:pPr marL="0" indent="0" algn="l">
              <a:buNone/>
            </a:pPr>
            <a:r>
              <a:rPr lang="en-US" sz="1800" dirty="0">
                <a:solidFill>
                  <a:srgbClr val="484F58"/>
                </a:solidFill>
                <a:latin typeface="JetBrains Mono" pitchFamily="34" charset="0"/>
                <a:ea typeface="JetBrains Mono" pitchFamily="34" charset="-122"/>
                <a:cs typeface="JetBrains Mono" pitchFamily="34" charset="-120"/>
              </a:rPr>
              <a:t>zeromanualtech@gmail.com</a:t>
            </a:r>
            <a:endParaRPr lang="en-US" sz="1800" dirty="0"/>
          </a:p>
        </p:txBody>
      </p:sp>
      <p:sp>
        <p:nvSpPr>
          <p:cNvPr id="22" name="Text 15"/>
          <p:cNvSpPr/>
          <p:nvPr/>
        </p:nvSpPr>
        <p:spPr>
          <a:xfrm>
            <a:off x="4662898" y="9134408"/>
            <a:ext cx="2262906" cy="333449"/>
          </a:xfrm>
          <a:prstGeom prst="rect">
            <a:avLst/>
          </a:prstGeom>
          <a:noFill/>
          <a:ln/>
        </p:spPr>
        <p:txBody>
          <a:bodyPr wrap="square" lIns="25400" tIns="25400" rIns="25400" bIns="25400" rtlCol="0" anchor="t">
            <a:normAutofit/>
          </a:bodyPr>
          <a:lstStyle/>
          <a:p>
            <a:pPr marL="0" indent="0" algn="l">
              <a:buNone/>
            </a:pPr>
            <a:r>
              <a:rPr lang="en-US" sz="1800" dirty="0">
                <a:solidFill>
                  <a:srgbClr val="484F58"/>
                </a:solidFill>
                <a:latin typeface="JetBrains Mono" pitchFamily="34" charset="0"/>
                <a:ea typeface="JetBrains Mono" pitchFamily="34" charset="-122"/>
                <a:cs typeface="JetBrains Mono" pitchFamily="34" charset="-120"/>
              </a:rPr>
              <a:t>zeromanuals.com</a:t>
            </a:r>
            <a:endParaRPr lang="en-US" sz="1800" dirty="0"/>
          </a:p>
        </p:txBody>
      </p:sp>
      <p:pic>
        <p:nvPicPr>
          <p:cNvPr id="24" name="Picture 23">
            <a:extLst>
              <a:ext uri="{FF2B5EF4-FFF2-40B4-BE49-F238E27FC236}">
                <a16:creationId xmlns:a16="http://schemas.microsoft.com/office/drawing/2014/main" id="{173345A6-3F74-C432-73E2-87EBDE4E2EBB}"/>
              </a:ext>
            </a:extLst>
          </p:cNvPr>
          <p:cNvPicPr>
            <a:picLocks noChangeAspect="1"/>
          </p:cNvPicPr>
          <p:nvPr/>
        </p:nvPicPr>
        <p:blipFill>
          <a:blip r:embed="rId8"/>
          <a:stretch>
            <a:fillRect/>
          </a:stretch>
        </p:blipFill>
        <p:spPr>
          <a:xfrm>
            <a:off x="15314892" y="565831"/>
            <a:ext cx="2293110" cy="12887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1443</Words>
  <Application>Microsoft Office PowerPoint</Application>
  <PresentationFormat>Custom</PresentationFormat>
  <Paragraphs>260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Space Grotesk</vt: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ZeroManul - Company Brain</dc:title>
  <dc:subject>PptxGenJS Presentation</dc:subject>
  <dc:creator>PptxGenJS</dc:creator>
  <cp:lastModifiedBy>Muhaiminul Abedin Farhan</cp:lastModifiedBy>
  <cp:revision>3</cp:revision>
  <dcterms:created xsi:type="dcterms:W3CDTF">2026-07-05T22:57:35Z</dcterms:created>
  <dcterms:modified xsi:type="dcterms:W3CDTF">2026-07-05T23:47:03Z</dcterms:modified>
</cp:coreProperties>
</file>