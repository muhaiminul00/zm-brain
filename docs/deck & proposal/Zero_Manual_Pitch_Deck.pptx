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embeddedFontLst>
    <p:embeddedFont>
      <p:font typeface="Inter" panose="02000503000000020004" pitchFamily="2" charset="0"/>
      <p:regular r:id="rId14"/>
      <p:bold r:id="rId15"/>
      <p:italic r:id="rId16"/>
      <p:boldItalic r:id="rId17"/>
    </p:embeddedFont>
    <p:embeddedFont>
      <p:font typeface="JetBrains Mono" panose="02000009000000000000" pitchFamily="49" charset="0"/>
      <p:regular r:id="rId18"/>
      <p:bold r:id="rId19"/>
      <p:italic r:id="rId20"/>
      <p:boldItalic r:id="rId21"/>
    </p:embeddedFont>
    <p:embeddedFont>
      <p:font typeface="Space Grotesk" pitchFamily="2" charset="0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95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12" y="2575408"/>
            <a:ext cx="838104" cy="838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47677" y="2632374"/>
            <a:ext cx="6207621" cy="1028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156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Manual</a:t>
            </a:r>
            <a:endParaRPr lang="en-US" sz="7800" dirty="0"/>
          </a:p>
        </p:txBody>
      </p:sp>
      <p:sp>
        <p:nvSpPr>
          <p:cNvPr id="4" name="Text 1"/>
          <p:cNvSpPr/>
          <p:nvPr/>
        </p:nvSpPr>
        <p:spPr>
          <a:xfrm>
            <a:off x="1142939" y="3889658"/>
            <a:ext cx="17602243" cy="538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Self-Driving Company Brain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142939" y="4771090"/>
            <a:ext cx="1173473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Gives AI agents and tools the company understanding they need to actually operate.</a:t>
            </a:r>
            <a:endParaRPr lang="en-US" sz="2025" dirty="0"/>
          </a:p>
        </p:txBody>
      </p:sp>
      <p:sp>
        <p:nvSpPr>
          <p:cNvPr id="6" name="Shape 3"/>
          <p:cNvSpPr/>
          <p:nvPr/>
        </p:nvSpPr>
        <p:spPr>
          <a:xfrm>
            <a:off x="1142939" y="5791992"/>
            <a:ext cx="914377" cy="952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2939" y="6411020"/>
            <a:ext cx="17602243" cy="34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becoming part of every company.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142939" y="6875066"/>
            <a:ext cx="17602243" cy="817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 every company needs a </a:t>
            </a:r>
            <a:r>
              <a:rPr lang="en-US" sz="4800" b="1" kern="0" spc="-96" dirty="0">
                <a:solidFill>
                  <a:srgbClr val="FF6B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Brain.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91437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922581"/>
            <a:ext cx="1346209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2939" y="1743123"/>
            <a:ext cx="8396126" cy="860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an AI agent access to your company tools today. It reads documents, messages, tickets, databases.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1142939" y="2832478"/>
            <a:ext cx="8396126" cy="1596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F6B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But access is not understanding.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142939" y="4734043"/>
            <a:ext cx="896673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still doesn't know: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42939" y="5146301"/>
            <a:ext cx="3236916" cy="561983"/>
          </a:xfrm>
          <a:prstGeom prst="roundRect">
            <a:avLst>
              <a:gd name="adj" fmla="val 135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60693" y="5287855"/>
            <a:ext cx="2898516" cy="31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decisions were made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13172" y="5146301"/>
            <a:ext cx="2124230" cy="561983"/>
          </a:xfrm>
          <a:prstGeom prst="roundRect">
            <a:avLst>
              <a:gd name="adj" fmla="val 135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30926" y="5287855"/>
            <a:ext cx="1764922" cy="31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owns what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42939" y="5841602"/>
            <a:ext cx="2534053" cy="561983"/>
          </a:xfrm>
          <a:prstGeom prst="roundRect">
            <a:avLst>
              <a:gd name="adj" fmla="val 135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60693" y="5983156"/>
            <a:ext cx="2174744" cy="31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promised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810308" y="5841602"/>
            <a:ext cx="3035530" cy="561983"/>
          </a:xfrm>
          <a:prstGeom prst="roundRect">
            <a:avLst>
              <a:gd name="adj" fmla="val 135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28063" y="5983156"/>
            <a:ext cx="2691088" cy="31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 over time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056477" y="1743123"/>
            <a:ext cx="7088374" cy="6150539"/>
          </a:xfrm>
          <a:prstGeom prst="roundRect">
            <a:avLst>
              <a:gd name="adj" fmla="val 123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445660" y="4114759"/>
            <a:ext cx="6499306" cy="861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kern="0" spc="-48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your best salesperson why a deal fell apart eight months ago — they'll know.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445660" y="5128226"/>
            <a:ext cx="6941007" cy="43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8B94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your CRM. It won't.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142939" y="8274640"/>
            <a:ext cx="17602243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the most valuable company knowledge was never stored.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42939" y="8629726"/>
            <a:ext cx="17602243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lived in people.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42939" y="9137100"/>
            <a:ext cx="17602243" cy="34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AI interaction starts from zero. Every agent re-learns context a human already has.</a:t>
            </a:r>
            <a:endParaRPr lang="en-US" sz="202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E5DA9F1-A5AC-08D3-D9B4-96AB98240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91437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922581"/>
            <a:ext cx="1455350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2939" y="1819267"/>
            <a:ext cx="15087496" cy="571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is moving from answering questions to performing work.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142939" y="2600070"/>
            <a:ext cx="15087496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write code, talk to customers, analyze information, execute workflows.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142939" y="3258965"/>
            <a:ext cx="15087496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every worker needs context before they can create value — AI workers are no different.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142939" y="3917860"/>
            <a:ext cx="15087496" cy="34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only act as well as the understanding they receive.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142939" y="4648669"/>
            <a:ext cx="17602243" cy="73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800" b="1" kern="0" spc="-96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bottleneck isn't model intelligence anymore.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1142939" y="5349610"/>
            <a:ext cx="17602243" cy="73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800" b="1" kern="0" spc="-96" dirty="0">
                <a:solidFill>
                  <a:srgbClr val="8B94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It's organizational understanding.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1142939" y="8411675"/>
            <a:ext cx="14494273" cy="1037182"/>
          </a:xfrm>
          <a:prstGeom prst="roundRect">
            <a:avLst>
              <a:gd name="adj" fmla="val 7347"/>
            </a:avLst>
          </a:prstGeom>
          <a:solidFill>
            <a:srgbClr val="FF6B00">
              <a:alpha val="10000"/>
            </a:srgbClr>
          </a:solidFill>
          <a:ln w="8204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532122" y="8724586"/>
            <a:ext cx="15087496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Combinator named this exact gap a priority category this year: </a:t>
            </a:r>
            <a:r>
              <a:rPr lang="en-US" sz="2025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Brain.</a:t>
            </a:r>
            <a:endParaRPr lang="en-US" sz="2025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FBFEC0-ED2F-00EE-A2C1-51E12341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91437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922581"/>
            <a:ext cx="1460003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2939" y="1704922"/>
            <a:ext cx="15716112" cy="73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800" b="1" kern="0" spc="-96" dirty="0">
                <a:solidFill>
                  <a:srgbClr val="FF6B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Manual is the Self-Driving Company Brain.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142939" y="2824915"/>
            <a:ext cx="7848575" cy="1272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continuously turns company activity — conversations, meetings, decisions, work — into living organizational understanding.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142939" y="4287558"/>
            <a:ext cx="7848575" cy="860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delivers that understanding wherever work happens: AI agents, tools, and teams.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142939" y="5414986"/>
            <a:ext cx="8381974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when someone or something asks: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524874" y="2824915"/>
            <a:ext cx="7620104" cy="714273"/>
          </a:xfrm>
          <a:prstGeom prst="roundRect">
            <a:avLst>
              <a:gd name="adj" fmla="val 10668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799778" y="3042669"/>
            <a:ext cx="7298899" cy="316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"Why did we choose this vendor?"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524874" y="3672505"/>
            <a:ext cx="7620104" cy="714273"/>
          </a:xfrm>
          <a:prstGeom prst="roundRect">
            <a:avLst>
              <a:gd name="adj" fmla="val 10668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799778" y="3890259"/>
            <a:ext cx="7298899" cy="316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did we promise this customer?"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524874" y="4520094"/>
            <a:ext cx="7620104" cy="714273"/>
          </a:xfrm>
          <a:prstGeom prst="roundRect">
            <a:avLst>
              <a:gd name="adj" fmla="val 10668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799778" y="4737849"/>
            <a:ext cx="7298899" cy="316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"Has this problem happened before?"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524874" y="5367685"/>
            <a:ext cx="7620104" cy="714273"/>
          </a:xfrm>
          <a:prstGeom prst="roundRect">
            <a:avLst>
              <a:gd name="adj" fmla="val 10668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799778" y="5585439"/>
            <a:ext cx="7298899" cy="316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should this agent know before acting?"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42939" y="8591012"/>
            <a:ext cx="17602243" cy="34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 already understands the answer.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1142939" y="9055059"/>
            <a:ext cx="17602243" cy="43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Knowledge stops disappearing. Context becomes infrastructure.</a:t>
            </a:r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070F6EA-C0FC-FDCD-1427-466F64B8C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53339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541601"/>
            <a:ext cx="2497544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DELIVERS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142939" y="1019236"/>
            <a:ext cx="16002040" cy="3907348"/>
          </a:xfrm>
          <a:prstGeom prst="roundRect">
            <a:avLst>
              <a:gd name="adj" fmla="val 1950"/>
            </a:avLst>
          </a:prstGeom>
          <a:solidFill>
            <a:srgbClr val="161B22"/>
          </a:solidFill>
          <a:ln w="8204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646339" y="1995015"/>
            <a:ext cx="540960" cy="409438"/>
          </a:xfrm>
          <a:prstGeom prst="roundRect">
            <a:avLst>
              <a:gd name="adj" fmla="val 13958"/>
            </a:avLst>
          </a:prstGeom>
          <a:solidFill>
            <a:srgbClr val="FF6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79689" y="2052165"/>
            <a:ext cx="350460" cy="333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11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377789" y="1948354"/>
            <a:ext cx="8825869" cy="5408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kern="0" spc="-66" dirty="0">
                <a:solidFill>
                  <a:srgbClr val="FF6B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for AI Agents — the core product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1646339" y="2641604"/>
            <a:ext cx="15445095" cy="80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Claude, ChatGPT, internal agents, developer agents. Before acting, every agent gets the company understanding it needs. Real operational context: past decisions, ownership, history, constraints, commitments.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646339" y="3603539"/>
            <a:ext cx="16494762" cy="43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a document dump — a working memory of the company.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142939" y="5078873"/>
            <a:ext cx="16002040" cy="2573022"/>
          </a:xfrm>
          <a:prstGeom prst="roundRect">
            <a:avLst>
              <a:gd name="adj" fmla="val 2961"/>
            </a:avLst>
          </a:prstGeom>
          <a:solidFill>
            <a:srgbClr val="1A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638135" y="5922617"/>
            <a:ext cx="502760" cy="390466"/>
          </a:xfrm>
          <a:prstGeom prst="roundRect">
            <a:avLst>
              <a:gd name="adj" fmla="val 14636"/>
            </a:avLst>
          </a:prstGeom>
          <a:solidFill>
            <a:srgbClr val="1C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752435" y="5970242"/>
            <a:ext cx="350360" cy="333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331385" y="5866470"/>
            <a:ext cx="6147552" cy="5408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kern="0" spc="-66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Inside Existing Tools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1638135" y="6521519"/>
            <a:ext cx="15716112" cy="38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Slack, Gmail, CRM. Tools become aware of company context. The right knowledge appears where work already happens.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142939" y="7804185"/>
            <a:ext cx="16002040" cy="1949380"/>
          </a:xfrm>
          <a:prstGeom prst="roundRect">
            <a:avLst>
              <a:gd name="adj" fmla="val 3909"/>
            </a:avLst>
          </a:prstGeom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646339" y="8021850"/>
            <a:ext cx="464816" cy="371494"/>
          </a:xfrm>
          <a:prstGeom prst="roundRect">
            <a:avLst>
              <a:gd name="adj" fmla="val 15384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741589" y="8059950"/>
            <a:ext cx="350516" cy="333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301645" y="8024671"/>
            <a:ext cx="3772403" cy="4038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kern="0" spc="-48" dirty="0">
                <a:solidFill>
                  <a:srgbClr val="484F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Company Brain Platform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646339" y="8507561"/>
            <a:ext cx="15445095" cy="1066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interface to understand and interact with your organization — what's changing, what needs attention, where risks exist. Includes an AI Consultant that helps teams ask questions, analyze situations, and review decisions. Lowest priority surface — the Brain matters most when it powers work.</a:t>
            </a:r>
            <a:endParaRPr lang="en-US" sz="1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531A51E-86E9-6DBF-D23B-498BA530E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9124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91437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922581"/>
            <a:ext cx="3051849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WOULD LOOK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2939" y="1704922"/>
            <a:ext cx="8120121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142939" y="2250497"/>
            <a:ext cx="7381928" cy="3246018"/>
          </a:xfrm>
          <a:prstGeom prst="roundRect">
            <a:avLst>
              <a:gd name="adj" fmla="val 2347"/>
            </a:avLst>
          </a:prstGeom>
          <a:solidFill>
            <a:srgbClr val="161B22">
              <a:alpha val="75000"/>
            </a:srgbClr>
          </a:solidFill>
          <a:ln w="8204">
            <a:solidFill>
              <a:srgbClr val="30363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93922" y="2601480"/>
            <a:ext cx="7347958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Agent: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93922" y="2956565"/>
            <a:ext cx="6880360" cy="825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8B94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"Please upload documents and explain the background."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93922" y="3953624"/>
            <a:ext cx="7347958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Human: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93922" y="4308710"/>
            <a:ext cx="7347958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Repeats context.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3922" y="4587650"/>
            <a:ext cx="7347958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3922" y="4866591"/>
            <a:ext cx="7347958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34408" y="1704922"/>
            <a:ext cx="18972" cy="693108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762922" y="1704922"/>
            <a:ext cx="8120262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ZERO MANUAL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62922" y="2250497"/>
            <a:ext cx="7382056" cy="4332040"/>
          </a:xfrm>
          <a:prstGeom prst="roundRect">
            <a:avLst>
              <a:gd name="adj" fmla="val 17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113905" y="2601480"/>
            <a:ext cx="7348099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Agent: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113905" y="2956565"/>
            <a:ext cx="7348099" cy="43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"Create a launch plan."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113905" y="3540854"/>
            <a:ext cx="7348099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has: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113905" y="3934012"/>
            <a:ext cx="247461" cy="341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418484" y="3946318"/>
            <a:ext cx="2887877" cy="3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launch decisions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113905" y="4332809"/>
            <a:ext cx="247461" cy="341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418484" y="4345116"/>
            <a:ext cx="2291445" cy="3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responsibilities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113905" y="4731607"/>
            <a:ext cx="247461" cy="341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418484" y="4743914"/>
            <a:ext cx="2117235" cy="3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constraints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113905" y="5130405"/>
            <a:ext cx="247461" cy="341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418484" y="5142712"/>
            <a:ext cx="2076086" cy="3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mistakes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113905" y="5529203"/>
            <a:ext cx="247461" cy="341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0418484" y="5541509"/>
            <a:ext cx="2929468" cy="3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customer insights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0113905" y="5928001"/>
            <a:ext cx="247461" cy="341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418484" y="5940307"/>
            <a:ext cx="1780225" cy="3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learned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342837" y="9055059"/>
            <a:ext cx="17602243" cy="43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kern="0" spc="-48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doesn't start with a blank conversation. It starts with company understanding.</a:t>
            </a:r>
            <a:endParaRPr lang="en-US" sz="2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37F67EC-E383-201A-BFA7-5A37B6947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4362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91437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922581"/>
            <a:ext cx="5311230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THIS A NEW CATEGORY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2939" y="1628777"/>
            <a:ext cx="5506385" cy="571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8B94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Search finds information.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148744" y="1628777"/>
            <a:ext cx="8377320" cy="571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Company Brain creates understanding.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1142939" y="2543026"/>
            <a:ext cx="8022748" cy="6905831"/>
          </a:xfrm>
          <a:prstGeom prst="roundRect">
            <a:avLst>
              <a:gd name="adj" fmla="val 1103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51143" y="3249094"/>
            <a:ext cx="8006340" cy="952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417843" y="2760780"/>
            <a:ext cx="3580028" cy="316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SYSTEMS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144763" y="2551230"/>
            <a:ext cx="18972" cy="69786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30435" y="2760780"/>
            <a:ext cx="3580160" cy="316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MANUAL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51143" y="3993363"/>
            <a:ext cx="8006340" cy="952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417843" y="3485899"/>
            <a:ext cx="3580028" cy="31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144763" y="3257299"/>
            <a:ext cx="18972" cy="73606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30435" y="3485899"/>
            <a:ext cx="3580160" cy="31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reality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151143" y="4737632"/>
            <a:ext cx="8006340" cy="952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417843" y="4230167"/>
            <a:ext cx="3580028" cy="31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144763" y="4001567"/>
            <a:ext cx="18972" cy="73606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30435" y="4230167"/>
            <a:ext cx="3580160" cy="31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51143" y="5481901"/>
            <a:ext cx="8006340" cy="952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417843" y="4974436"/>
            <a:ext cx="3580028" cy="31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knowledge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144763" y="4745836"/>
            <a:ext cx="18972" cy="73606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30435" y="4974436"/>
            <a:ext cx="3580160" cy="31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Living memory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17843" y="5718706"/>
            <a:ext cx="3580028" cy="31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144763" y="5490106"/>
            <a:ext cx="18972" cy="73606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30435" y="5718706"/>
            <a:ext cx="3580160" cy="31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+ governance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851373" y="2543026"/>
            <a:ext cx="7512414" cy="860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teams moving toward this category validates the need. Most stop at capture and retrieval.</a:t>
            </a:r>
            <a:endParaRPr lang="en-US" sz="2025" dirty="0"/>
          </a:p>
        </p:txBody>
      </p:sp>
      <p:sp>
        <p:nvSpPr>
          <p:cNvPr id="29" name="Text 26"/>
          <p:cNvSpPr/>
          <p:nvPr/>
        </p:nvSpPr>
        <p:spPr>
          <a:xfrm>
            <a:off x="9851373" y="3670454"/>
            <a:ext cx="802296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Company Brain needs to know: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851373" y="4082712"/>
            <a:ext cx="802296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where knowledge came from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851373" y="4456897"/>
            <a:ext cx="802296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whether it's still true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851373" y="4831082"/>
            <a:ext cx="802296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who owns it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851373" y="5205268"/>
            <a:ext cx="802296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whether an agent can safely act on it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851373" y="5579454"/>
            <a:ext cx="7512414" cy="595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governed by a trust and provenance layer, not a permissions checkbox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851373" y="8661260"/>
            <a:ext cx="7512414" cy="825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future isn't better search. It's companies that understand themselves.</a:t>
            </a:r>
            <a:endParaRPr lang="en-US" sz="2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CEA3002-BECF-5E7B-178B-8074D7592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91437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922581"/>
            <a:ext cx="1148891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2939" y="1666850"/>
            <a:ext cx="17602243" cy="571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platform era created a new system of record.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181011" y="2695187"/>
            <a:ext cx="230492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543033" y="2695187"/>
            <a:ext cx="304890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038358" y="2695187"/>
            <a:ext cx="2165469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memory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1011" y="3412023"/>
            <a:ext cx="230492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43033" y="3412023"/>
            <a:ext cx="304890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38358" y="3412023"/>
            <a:ext cx="2380084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memory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81011" y="4128860"/>
            <a:ext cx="2304926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systems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43033" y="4128860"/>
            <a:ext cx="304890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38358" y="4128860"/>
            <a:ext cx="2205515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memory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42939" y="4693407"/>
            <a:ext cx="14287374" cy="791186"/>
          </a:xfrm>
          <a:prstGeom prst="roundRect">
            <a:avLst>
              <a:gd name="adj" fmla="val 9631"/>
            </a:avLst>
          </a:prstGeom>
          <a:solidFill>
            <a:srgbClr val="FF6B00">
              <a:alpha val="10000"/>
            </a:srgbClr>
          </a:solidFill>
          <a:ln w="8204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17777" y="4892101"/>
            <a:ext cx="2304926" cy="43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6B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era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779800" y="4929019"/>
            <a:ext cx="342834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313068" y="4892101"/>
            <a:ext cx="6118222" cy="43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Company Brain: organizational memory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142939" y="5827372"/>
            <a:ext cx="17602243" cy="34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missing system is the one that understands the company itself.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1142939" y="6634326"/>
            <a:ext cx="2322411" cy="676328"/>
          </a:xfrm>
          <a:prstGeom prst="roundRect">
            <a:avLst>
              <a:gd name="adj" fmla="val 11267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455943" y="6833030"/>
            <a:ext cx="1772603" cy="317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teams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655840" y="6812510"/>
            <a:ext cx="342834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4112964" y="6634326"/>
            <a:ext cx="1536865" cy="676328"/>
          </a:xfrm>
          <a:prstGeom prst="roundRect">
            <a:avLst>
              <a:gd name="adj" fmla="val 11267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425968" y="6833030"/>
            <a:ext cx="987057" cy="317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840320" y="6812510"/>
            <a:ext cx="342834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6297444" y="6634326"/>
            <a:ext cx="1851827" cy="676328"/>
          </a:xfrm>
          <a:prstGeom prst="roundRect">
            <a:avLst>
              <a:gd name="adj" fmla="val 11267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10448" y="6833030"/>
            <a:ext cx="1302019" cy="317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339761" y="6812510"/>
            <a:ext cx="342834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8796885" y="6634326"/>
            <a:ext cx="3884659" cy="676328"/>
          </a:xfrm>
          <a:prstGeom prst="roundRect">
            <a:avLst>
              <a:gd name="adj" fmla="val 11267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109889" y="6833030"/>
            <a:ext cx="3375190" cy="317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knowledge organization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142939" y="9067622"/>
            <a:ext cx="17602243" cy="34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AI becomes a worker inside companies, every company will need a Brain.</a:t>
            </a:r>
            <a:endParaRPr lang="en-US" sz="2025" dirty="0"/>
          </a:p>
        </p:txBody>
      </p:sp>
      <p:sp>
        <p:nvSpPr>
          <p:cNvPr id="33" name="Text 30"/>
          <p:cNvSpPr/>
          <p:nvPr/>
        </p:nvSpPr>
        <p:spPr>
          <a:xfrm>
            <a:off x="1142939" y="9474623"/>
            <a:ext cx="17602243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(Illustrative framing, not a sized TAM at this stage.)</a:t>
            </a:r>
            <a:endParaRPr lang="en-US" sz="1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13995AE-EF3C-14AA-281F-66BB69D9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91437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922581"/>
            <a:ext cx="807137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142939" y="1999374"/>
            <a:ext cx="380980" cy="38072"/>
          </a:xfrm>
          <a:prstGeom prst="rect">
            <a:avLst/>
          </a:prstGeom>
          <a:solidFill>
            <a:srgbClr val="FF6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714408" y="1628777"/>
            <a:ext cx="1624701" cy="817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1142939" y="2789150"/>
            <a:ext cx="5156171" cy="2138844"/>
          </a:xfrm>
          <a:prstGeom prst="roundRect">
            <a:avLst>
              <a:gd name="adj" fmla="val 3563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417777" y="3063989"/>
            <a:ext cx="685686" cy="685686"/>
          </a:xfrm>
          <a:prstGeom prst="ellipse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79677" y="3063989"/>
            <a:ext cx="761886" cy="72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777" y="3901964"/>
            <a:ext cx="2053649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Ashraf Ali Faiyaz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417777" y="4374215"/>
            <a:ext cx="1812101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&amp; CEO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65745" y="2789150"/>
            <a:ext cx="5156300" cy="2138844"/>
          </a:xfrm>
          <a:prstGeom prst="roundRect">
            <a:avLst>
              <a:gd name="adj" fmla="val 3563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40583" y="3063989"/>
            <a:ext cx="685686" cy="685686"/>
          </a:xfrm>
          <a:prstGeom prst="ellipse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02483" y="3063989"/>
            <a:ext cx="761886" cy="72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40583" y="3901964"/>
            <a:ext cx="1882042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Mazharul Islam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840583" y="4374215"/>
            <a:ext cx="3877172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 &amp; Managing Director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988679" y="2789150"/>
            <a:ext cx="5156300" cy="2138844"/>
          </a:xfrm>
          <a:prstGeom prst="roundRect">
            <a:avLst>
              <a:gd name="adj" fmla="val 3563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263518" y="3063989"/>
            <a:ext cx="685686" cy="685686"/>
          </a:xfrm>
          <a:prstGeom prst="ellipse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225418" y="3063989"/>
            <a:ext cx="761886" cy="72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MF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263518" y="3901964"/>
            <a:ext cx="3340071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Muhaiminul Abedin Farhan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2263518" y="4374215"/>
            <a:ext cx="1705499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Founding CTO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142939" y="5194628"/>
            <a:ext cx="5156171" cy="2138844"/>
          </a:xfrm>
          <a:prstGeom prst="roundRect">
            <a:avLst>
              <a:gd name="adj" fmla="val 3563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417777" y="5469467"/>
            <a:ext cx="685686" cy="685686"/>
          </a:xfrm>
          <a:prstGeom prst="ellipse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379677" y="5469467"/>
            <a:ext cx="761886" cy="72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RR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417777" y="6307442"/>
            <a:ext cx="2524336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Rafiur Zaman Ruhan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417777" y="6779693"/>
            <a:ext cx="1114280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Builder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565745" y="5194628"/>
            <a:ext cx="5156300" cy="2138844"/>
          </a:xfrm>
          <a:prstGeom prst="roundRect">
            <a:avLst>
              <a:gd name="adj" fmla="val 3563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840583" y="5469467"/>
            <a:ext cx="685686" cy="685686"/>
          </a:xfrm>
          <a:prstGeom prst="ellipse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802483" y="5469467"/>
            <a:ext cx="761886" cy="72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840583" y="6307442"/>
            <a:ext cx="2792534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Afnan Ahmed Bhuiyan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6840583" y="6779693"/>
            <a:ext cx="2054495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Manager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1988679" y="5194628"/>
            <a:ext cx="5156300" cy="2138844"/>
          </a:xfrm>
          <a:prstGeom prst="roundRect">
            <a:avLst>
              <a:gd name="adj" fmla="val 3563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2263518" y="5469467"/>
            <a:ext cx="685686" cy="685686"/>
          </a:xfrm>
          <a:prstGeom prst="ellipse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2225418" y="5469467"/>
            <a:ext cx="761886" cy="72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JF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2263518" y="6307442"/>
            <a:ext cx="1392319" cy="35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Jahid Farid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12263518" y="6779693"/>
            <a:ext cx="552937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142939" y="8303227"/>
            <a:ext cx="17602243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team: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142939" y="8677412"/>
            <a:ext cx="16002040" cy="80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founders covering build, product, and operations end to end — not a single-founder bet on an idea, a team already structured to ship it.</a:t>
            </a:r>
            <a:endParaRPr lang="en-US" sz="2025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049C549-C542-58D7-674F-CE709FC6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39" y="914377"/>
            <a:ext cx="350526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7754" y="922581"/>
            <a:ext cx="2494865" cy="317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142939" y="3308446"/>
            <a:ext cx="6314108" cy="930657"/>
          </a:xfrm>
          <a:prstGeom prst="roundRect">
            <a:avLst>
              <a:gd name="adj" fmla="val 6141"/>
            </a:avLst>
          </a:prstGeom>
          <a:solidFill>
            <a:srgbClr val="FF6B00">
              <a:alpha val="10000"/>
            </a:srgbClr>
          </a:solidFill>
          <a:ln w="8204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93922" y="3507140"/>
            <a:ext cx="6173356" cy="571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FF6B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Subscription + usage-based.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1142939" y="4696227"/>
            <a:ext cx="17602243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Tied to: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42939" y="5127457"/>
            <a:ext cx="2886959" cy="599927"/>
          </a:xfrm>
          <a:prstGeom prst="roundRect">
            <a:avLst>
              <a:gd name="adj" fmla="val 12702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98793" y="5288061"/>
            <a:ext cx="2461859" cy="3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Brain usage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82187" y="5127457"/>
            <a:ext cx="2416246" cy="599927"/>
          </a:xfrm>
          <a:prstGeom prst="roundRect">
            <a:avLst>
              <a:gd name="adj" fmla="val 12702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38041" y="5288061"/>
            <a:ext cx="1980738" cy="3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delivered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750722" y="5127457"/>
            <a:ext cx="2443294" cy="599927"/>
          </a:xfrm>
          <a:prstGeom prst="roundRect">
            <a:avLst>
              <a:gd name="adj" fmla="val 12702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06576" y="5288061"/>
            <a:ext cx="2007786" cy="3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supported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42939" y="6336926"/>
            <a:ext cx="13620724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evolves through early customer conversations — not finalized.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142939" y="6938776"/>
            <a:ext cx="13620724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grows as the company Brain becomes more useful over time.</a:t>
            </a:r>
            <a:endParaRPr lang="en-US" sz="202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096EB1-FAC0-E5D3-4015-F0D9EEDC1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42939" y="1412521"/>
            <a:ext cx="17602243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142939" y="1805679"/>
            <a:ext cx="3446763" cy="561983"/>
          </a:xfrm>
          <a:prstGeom prst="roundRect">
            <a:avLst>
              <a:gd name="adj" fmla="val 135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60693" y="1947233"/>
            <a:ext cx="3114657" cy="31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Brain architecture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723019" y="1805679"/>
            <a:ext cx="3675068" cy="561983"/>
          </a:xfrm>
          <a:prstGeom prst="roundRect">
            <a:avLst>
              <a:gd name="adj" fmla="val 135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40773" y="1947233"/>
            <a:ext cx="3349812" cy="31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memory model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531404" y="1805679"/>
            <a:ext cx="2406119" cy="561983"/>
          </a:xfrm>
          <a:prstGeom prst="roundRect">
            <a:avLst>
              <a:gd name="adj" fmla="val 135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749158" y="1947233"/>
            <a:ext cx="2046811" cy="31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model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070841" y="1805679"/>
            <a:ext cx="3530599" cy="561983"/>
          </a:xfrm>
          <a:prstGeom prst="roundRect">
            <a:avLst>
              <a:gd name="adj" fmla="val 13559"/>
            </a:avLst>
          </a:prstGeom>
          <a:solidFill>
            <a:srgbClr val="161B22"/>
          </a:solidFill>
          <a:ln w="8204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288595" y="1947233"/>
            <a:ext cx="3201008" cy="31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and governance model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2939" y="2710442"/>
            <a:ext cx="17602243" cy="3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2939" y="3046427"/>
            <a:ext cx="17602243" cy="34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first technical prototype.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1142939" y="3700963"/>
            <a:ext cx="14668418" cy="403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raising — sharing early because we believe this category is becoming inevitable.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2939" y="4142704"/>
            <a:ext cx="14668418" cy="403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replacing humans with AI. We're giving every company a Brain that helps humans and AI operate together.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142939" y="4965425"/>
            <a:ext cx="914377" cy="952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42939" y="5355891"/>
            <a:ext cx="17602243" cy="571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8B94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 companies use intelligence.</a:t>
            </a:r>
            <a:endParaRPr lang="en-US" sz="3300" dirty="0"/>
          </a:p>
        </p:txBody>
      </p:sp>
      <p:sp>
        <p:nvSpPr>
          <p:cNvPr id="19" name="Text 16"/>
          <p:cNvSpPr/>
          <p:nvPr/>
        </p:nvSpPr>
        <p:spPr>
          <a:xfrm>
            <a:off x="1142939" y="5965304"/>
            <a:ext cx="16482101" cy="2118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56" dirty="0">
                <a:solidFill>
                  <a:srgbClr val="FF6B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Tomorrow companies become intelligent.</a:t>
            </a:r>
            <a:endParaRPr lang="en-US" sz="7800" dirty="0"/>
          </a:p>
        </p:txBody>
      </p:sp>
      <p:sp>
        <p:nvSpPr>
          <p:cNvPr id="20" name="Text 17"/>
          <p:cNvSpPr/>
          <p:nvPr/>
        </p:nvSpPr>
        <p:spPr>
          <a:xfrm>
            <a:off x="1142939" y="8578962"/>
            <a:ext cx="17602243" cy="33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8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zeromanualtech@gmail.com</a:t>
            </a:r>
            <a:endParaRPr lang="en-US" sz="1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F62942B-1220-53BA-5E34-9FC0AF673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846" y="634789"/>
            <a:ext cx="1972125" cy="11083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919</Words>
  <Application>Microsoft Office PowerPoint</Application>
  <PresentationFormat>Custom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</vt:lpstr>
      <vt:lpstr>Arial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Muhaiminul Abedin Farhan</cp:lastModifiedBy>
  <cp:revision>6</cp:revision>
  <dcterms:created xsi:type="dcterms:W3CDTF">2026-07-05T09:34:16Z</dcterms:created>
  <dcterms:modified xsi:type="dcterms:W3CDTF">2026-07-05T09:49:04Z</dcterms:modified>
</cp:coreProperties>
</file>